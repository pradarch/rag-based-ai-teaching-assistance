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365760" cy="685800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371600"/>
            <a:ext cx="6400800" cy="4572000"/>
          </a:xfrm>
          <a:prstGeom prst="rect">
            <a:avLst/>
          </a:prstGeom>
          <a:noFill/>
        </p:spPr>
        <p:txBody>
          <a:bodyPr wrap="square">
            <a:spAutoFit/>
          </a:bodyPr>
          <a:lstStyle/>
          <a:p>
            <a:pPr>
              <a:spcAft>
                <a:spcPts val="1400"/>
              </a:spcAft>
              <a:defRPr sz="1200" b="1">
                <a:solidFill>
                  <a:srgbClr val="0EA5E9"/>
                </a:solidFill>
                <a:latin typeface="Segoe UI"/>
              </a:defRPr>
            </a:pPr>
            <a:r>
              <a:t>DATA SCIENCE PROJECT SHOWCASE</a:t>
            </a:r>
          </a:p>
          <a:p>
            <a:pPr>
              <a:spcAft>
                <a:spcPts val="1400"/>
              </a:spcAft>
              <a:defRPr sz="4400" b="1">
                <a:solidFill>
                  <a:srgbClr val="FFFFFF"/>
                </a:solidFill>
                <a:latin typeface="Segoe UI"/>
              </a:defRPr>
            </a:pPr>
            <a:r>
              <a:t>RAG-Based AI</a:t>
            </a:r>
            <a:br/>
            <a:r>
              <a:t>Teaching Assistant</a:t>
            </a:r>
          </a:p>
          <a:p>
            <a:pPr>
              <a:spcAft>
                <a:spcPts val="4000"/>
              </a:spcAft>
              <a:defRPr sz="1600">
                <a:solidFill>
                  <a:srgbClr val="FFFFFF"/>
                </a:solidFill>
                <a:latin typeface="Arial"/>
              </a:defRPr>
            </a:pPr>
            <a:r>
              <a:t>Local Video-to-Text Transcription, Semantic Search, and Q&amp;A System</a:t>
            </a:r>
          </a:p>
          <a:p>
            <a:pPr>
              <a:defRPr sz="1200" i="1">
                <a:solidFill>
                  <a:srgbClr val="0EA5E9"/>
                </a:solidFill>
                <a:latin typeface="Arial"/>
              </a:defRPr>
            </a:pPr>
            <a:r>
              <a:t>Inspired by the Ultimate Job Ready Data Science Course</a:t>
            </a:r>
            <a:br/>
            <a:r>
              <a:t>(Code With Harry Project 3)</a:t>
            </a:r>
          </a:p>
        </p:txBody>
      </p:sp>
      <p:sp>
        <p:nvSpPr>
          <p:cNvPr id="4" name="Rounded Rectangle 3"/>
          <p:cNvSpPr/>
          <p:nvPr/>
        </p:nvSpPr>
        <p:spPr>
          <a:xfrm>
            <a:off x="7863840" y="1371600"/>
            <a:ext cx="3566160" cy="4114800"/>
          </a:xfrm>
          <a:prstGeom prst="roundRect">
            <a:avLst/>
          </a:prstGeom>
          <a:solidFill>
            <a:srgbClr val="1E293B"/>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38160" y="1645920"/>
            <a:ext cx="3017520" cy="3566160"/>
          </a:xfrm>
          <a:prstGeom prst="rect">
            <a:avLst/>
          </a:prstGeom>
          <a:noFill/>
        </p:spPr>
        <p:txBody>
          <a:bodyPr wrap="square">
            <a:spAutoFit/>
          </a:bodyPr>
          <a:lstStyle/>
          <a:p>
            <a:pPr>
              <a:spcAft>
                <a:spcPts val="1800"/>
              </a:spcAft>
              <a:defRPr sz="1200" b="1">
                <a:solidFill>
                  <a:srgbClr val="0EA5E9"/>
                </a:solidFill>
                <a:latin typeface="Segoe UI"/>
              </a:defRPr>
            </a:pPr>
            <a:r>
              <a:t>PROJECT TEAM</a:t>
            </a:r>
          </a:p>
          <a:p>
            <a:pPr>
              <a:defRPr sz="1400" b="1">
                <a:solidFill>
                  <a:srgbClr val="FFFFFF"/>
                </a:solidFill>
                <a:latin typeface="Segoe UI"/>
              </a:defRPr>
            </a:pPr>
            <a:r>
              <a:t>Sagnik Banik</a:t>
            </a:r>
          </a:p>
          <a:p>
            <a:pPr>
              <a:spcAft>
                <a:spcPts val="1200"/>
              </a:spcAft>
              <a:defRPr sz="1100">
                <a:solidFill>
                  <a:srgbClr val="94A3B8"/>
                </a:solidFill>
                <a:latin typeface="Arial"/>
              </a:defRPr>
            </a:pPr>
            <a:r>
              <a:t>USN: 1MS23CI103</a:t>
            </a:r>
          </a:p>
          <a:p>
            <a:pPr>
              <a:defRPr sz="1400" b="1">
                <a:solidFill>
                  <a:srgbClr val="FFFFFF"/>
                </a:solidFill>
                <a:latin typeface="Segoe UI"/>
              </a:defRPr>
            </a:pPr>
            <a:r>
              <a:t>Pramod Rai</a:t>
            </a:r>
          </a:p>
          <a:p>
            <a:pPr>
              <a:spcAft>
                <a:spcPts val="1200"/>
              </a:spcAft>
              <a:defRPr sz="1100">
                <a:solidFill>
                  <a:srgbClr val="94A3B8"/>
                </a:solidFill>
                <a:latin typeface="Arial"/>
              </a:defRPr>
            </a:pPr>
            <a:r>
              <a:t>USN: 1MS23CI089</a:t>
            </a:r>
          </a:p>
          <a:p>
            <a:pPr>
              <a:defRPr sz="1400" b="1">
                <a:solidFill>
                  <a:srgbClr val="FFFFFF"/>
                </a:solidFill>
                <a:latin typeface="Segoe UI"/>
              </a:defRPr>
            </a:pPr>
            <a:r>
              <a:t>Priyanshu Kumar</a:t>
            </a:r>
          </a:p>
          <a:p>
            <a:pPr>
              <a:spcAft>
                <a:spcPts val="1200"/>
              </a:spcAft>
              <a:defRPr sz="1100">
                <a:solidFill>
                  <a:srgbClr val="94A3B8"/>
                </a:solidFill>
                <a:latin typeface="Arial"/>
              </a:defRPr>
            </a:pPr>
            <a:r>
              <a:t>USN: 1MS23CI094</a:t>
            </a:r>
          </a:p>
          <a:p>
            <a:pPr>
              <a:defRPr sz="1400" b="1">
                <a:solidFill>
                  <a:srgbClr val="FFFFFF"/>
                </a:solidFill>
                <a:latin typeface="Segoe UI"/>
              </a:defRPr>
            </a:pPr>
            <a:r>
              <a:t>Yashraj Jha</a:t>
            </a:r>
          </a:p>
          <a:p>
            <a:pPr>
              <a:spcAft>
                <a:spcPts val="1200"/>
              </a:spcAft>
              <a:defRPr sz="1100">
                <a:solidFill>
                  <a:srgbClr val="94A3B8"/>
                </a:solidFill>
                <a:latin typeface="Arial"/>
              </a:defRPr>
            </a:pPr>
            <a:r>
              <a:t>USN: 1MS23CI138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rIns="0" tIns="0" bIns="0">
            <a:spAutoFit/>
          </a:bodyPr>
          <a:lstStyle/>
          <a:p>
            <a:pPr>
              <a:defRPr sz="1000" b="1">
                <a:solidFill>
                  <a:srgbClr val="0EA5E9"/>
                </a:solidFill>
                <a:latin typeface="Segoe UI"/>
              </a:defRPr>
            </a:pPr>
            <a:r>
              <a:t>CONTEXT &amp; CHALLENGE</a:t>
            </a:r>
          </a:p>
        </p:txBody>
      </p:sp>
      <p:sp>
        <p:nvSpPr>
          <p:cNvPr id="3" name="TextBox 2"/>
          <p:cNvSpPr txBox="1"/>
          <p:nvPr/>
        </p:nvSpPr>
        <p:spPr>
          <a:xfrm>
            <a:off x="731520" y="640080"/>
            <a:ext cx="10698480" cy="731520"/>
          </a:xfrm>
          <a:prstGeom prst="rect">
            <a:avLst/>
          </a:prstGeom>
          <a:noFill/>
        </p:spPr>
        <p:txBody>
          <a:bodyPr wrap="square" lIns="0" rIns="0" tIns="0" bIns="0">
            <a:spAutoFit/>
          </a:bodyPr>
          <a:lstStyle/>
          <a:p>
            <a:pPr>
              <a:defRPr sz="2800" b="1">
                <a:solidFill>
                  <a:srgbClr val="0F172A"/>
                </a:solidFill>
                <a:latin typeface="Segoe UI"/>
              </a:defRPr>
            </a:pPr>
            <a:r>
              <a:t>The Problem: Navigating Video Lectures</a:t>
            </a:r>
          </a:p>
        </p:txBody>
      </p:sp>
      <p:sp>
        <p:nvSpPr>
          <p:cNvPr id="4" name="Rectangle 3"/>
          <p:cNvSpPr/>
          <p:nvPr/>
        </p:nvSpPr>
        <p:spPr>
          <a:xfrm>
            <a:off x="731520" y="1371600"/>
            <a:ext cx="10728655" cy="2743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737360"/>
            <a:ext cx="5943600" cy="4572000"/>
          </a:xfrm>
          <a:prstGeom prst="rect">
            <a:avLst/>
          </a:prstGeom>
          <a:noFill/>
        </p:spPr>
        <p:txBody>
          <a:bodyPr wrap="square">
            <a:spAutoFit/>
          </a:bodyPr>
          <a:lstStyle/>
          <a:p>
            <a:pPr>
              <a:spcAft>
                <a:spcPts val="600"/>
              </a:spcAft>
              <a:defRPr sz="1800" b="1">
                <a:solidFill>
                  <a:srgbClr val="1E293B"/>
                </a:solidFill>
                <a:latin typeface="Arial"/>
              </a:defRPr>
            </a:pPr>
            <a:r>
              <a:t>• Inefficiencies in Modern E-Learning</a:t>
            </a:r>
          </a:p>
          <a:p>
            <a:pPr>
              <a:spcAft>
                <a:spcPts val="1600"/>
              </a:spcAft>
              <a:defRPr sz="1400">
                <a:solidFill>
                  <a:srgbClr val="64748B"/>
                </a:solidFill>
                <a:latin typeface="Arial"/>
              </a:defRPr>
            </a:pPr>
            <a:r>
              <a:t>Students waste hours scrubbing timelines to find exact explanations of coding topics, definitions, or code configurations in multi-hour video courses.</a:t>
            </a:r>
          </a:p>
          <a:p>
            <a:pPr>
              <a:spcAft>
                <a:spcPts val="600"/>
              </a:spcAft>
              <a:defRPr sz="1800" b="1">
                <a:solidFill>
                  <a:srgbClr val="1E293B"/>
                </a:solidFill>
                <a:latin typeface="Arial"/>
              </a:defRPr>
            </a:pPr>
            <a:r>
              <a:t>• Limitations of Standard Video Search</a:t>
            </a:r>
          </a:p>
          <a:p>
            <a:pPr>
              <a:spcAft>
                <a:spcPts val="1600"/>
              </a:spcAft>
              <a:defRPr sz="1400">
                <a:solidFill>
                  <a:srgbClr val="64748B"/>
                </a:solidFill>
                <a:latin typeface="Arial"/>
              </a:defRPr>
            </a:pPr>
            <a:r>
              <a:t>Video search features index only video titles, tags, and standard descriptions. The rich pedagogical content spoken within the actual video audio remains completely hidden.</a:t>
            </a:r>
          </a:p>
          <a:p>
            <a:pPr>
              <a:spcAft>
                <a:spcPts val="600"/>
              </a:spcAft>
              <a:defRPr sz="1800" b="1">
                <a:solidFill>
                  <a:srgbClr val="1E293B"/>
                </a:solidFill>
                <a:latin typeface="Arial"/>
              </a:defRPr>
            </a:pPr>
            <a:r>
              <a:t>• Multilingual and Slang Complexities</a:t>
            </a:r>
          </a:p>
          <a:p>
            <a:pPr>
              <a:defRPr sz="1400">
                <a:solidFill>
                  <a:srgbClr val="64748B"/>
                </a:solidFill>
                <a:latin typeface="Arial"/>
              </a:defRPr>
            </a:pPr>
            <a:r>
              <a:t>Popular courses (like CodeWithHarry) use Hinglish (mix of Hindi &amp; English). Traditional transcription tools fail to accurately parse and index this mixed vernacular.</a:t>
            </a:r>
          </a:p>
        </p:txBody>
      </p:sp>
      <p:sp>
        <p:nvSpPr>
          <p:cNvPr id="6" name="Rounded Rectangle 5"/>
          <p:cNvSpPr/>
          <p:nvPr/>
        </p:nvSpPr>
        <p:spPr>
          <a:xfrm>
            <a:off x="7132320" y="1737360"/>
            <a:ext cx="4327855" cy="4389120"/>
          </a:xfrm>
          <a:prstGeom prst="roundRect">
            <a:avLst/>
          </a:prstGeom>
          <a:solidFill>
            <a:srgbClr val="0F172A"/>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06640" y="2011680"/>
            <a:ext cx="3749039" cy="3840480"/>
          </a:xfrm>
          <a:prstGeom prst="rect">
            <a:avLst/>
          </a:prstGeom>
          <a:noFill/>
        </p:spPr>
        <p:txBody>
          <a:bodyPr wrap="square">
            <a:spAutoFit/>
          </a:bodyPr>
          <a:lstStyle/>
          <a:p>
            <a:pPr>
              <a:spcAft>
                <a:spcPts val="1600"/>
              </a:spcAft>
              <a:defRPr sz="1300" b="1">
                <a:solidFill>
                  <a:srgbClr val="0EA5E9"/>
                </a:solidFill>
                <a:latin typeface="Segoe UI"/>
              </a:defRPr>
            </a:pPr>
            <a:r>
              <a:t>THE OBJECTIVE</a:t>
            </a:r>
          </a:p>
          <a:p>
            <a:pPr>
              <a:spcAft>
                <a:spcPts val="1600"/>
              </a:spcAft>
              <a:defRPr sz="1500">
                <a:solidFill>
                  <a:srgbClr val="FFFFFF"/>
                </a:solidFill>
                <a:latin typeface="Arial"/>
              </a:defRPr>
            </a:pPr>
            <a:r>
              <a:t>Create an intelligent, local, and cost-effective Retrieval-Augmented Generation (RAG) system that:</a:t>
            </a:r>
          </a:p>
          <a:p>
            <a:pPr>
              <a:spcAft>
                <a:spcPts val="1000"/>
              </a:spcAft>
              <a:defRPr sz="1300">
                <a:solidFill>
                  <a:srgbClr val="FFFFFF"/>
                </a:solidFill>
                <a:latin typeface="Arial"/>
              </a:defRPr>
            </a:pPr>
            <a:r>
              <a:t>✔  Automatically converts video playlists to text.</a:t>
            </a:r>
          </a:p>
          <a:p>
            <a:pPr>
              <a:spcAft>
                <a:spcPts val="1000"/>
              </a:spcAft>
              <a:defRPr sz="1300">
                <a:solidFill>
                  <a:srgbClr val="FFFFFF"/>
                </a:solidFill>
                <a:latin typeface="Arial"/>
              </a:defRPr>
            </a:pPr>
            <a:r>
              <a:t>✔  Translates bilingual instruction (Hindi -&gt; English).</a:t>
            </a:r>
          </a:p>
          <a:p>
            <a:pPr>
              <a:spcAft>
                <a:spcPts val="1000"/>
              </a:spcAft>
              <a:defRPr sz="1300">
                <a:solidFill>
                  <a:srgbClr val="FFFFFF"/>
                </a:solidFill>
                <a:latin typeface="Arial"/>
              </a:defRPr>
            </a:pPr>
            <a:r>
              <a:t>✔  Indexes text chunks semantically with vectors.</a:t>
            </a:r>
          </a:p>
          <a:p>
            <a:pPr>
              <a:spcAft>
                <a:spcPts val="1000"/>
              </a:spcAft>
              <a:defRPr sz="1300">
                <a:solidFill>
                  <a:srgbClr val="FFFFFF"/>
                </a:solidFill>
                <a:latin typeface="Arial"/>
              </a:defRPr>
            </a:pPr>
            <a:r>
              <a:t>✔  Gives natural answers anchored to exact timestamps.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rIns="0" tIns="0" bIns="0">
            <a:spAutoFit/>
          </a:bodyPr>
          <a:lstStyle/>
          <a:p>
            <a:pPr>
              <a:defRPr sz="1000" b="1">
                <a:solidFill>
                  <a:srgbClr val="0EA5E9"/>
                </a:solidFill>
                <a:latin typeface="Segoe UI"/>
              </a:defRPr>
            </a:pPr>
            <a:r>
              <a:t>SYSTEM SOLUTION</a:t>
            </a:r>
          </a:p>
        </p:txBody>
      </p:sp>
      <p:sp>
        <p:nvSpPr>
          <p:cNvPr id="3" name="TextBox 2"/>
          <p:cNvSpPr txBox="1"/>
          <p:nvPr/>
        </p:nvSpPr>
        <p:spPr>
          <a:xfrm>
            <a:off x="731520" y="640080"/>
            <a:ext cx="10698480" cy="731520"/>
          </a:xfrm>
          <a:prstGeom prst="rect">
            <a:avLst/>
          </a:prstGeom>
          <a:noFill/>
        </p:spPr>
        <p:txBody>
          <a:bodyPr wrap="square" lIns="0" rIns="0" tIns="0" bIns="0">
            <a:spAutoFit/>
          </a:bodyPr>
          <a:lstStyle/>
          <a:p>
            <a:pPr>
              <a:defRPr sz="2800" b="1">
                <a:solidFill>
                  <a:srgbClr val="0F172A"/>
                </a:solidFill>
                <a:latin typeface="Segoe UI"/>
              </a:defRPr>
            </a:pPr>
            <a:r>
              <a:t>Introducing Retrieval-Augmented Generation</a:t>
            </a:r>
          </a:p>
        </p:txBody>
      </p:sp>
      <p:sp>
        <p:nvSpPr>
          <p:cNvPr id="4" name="Rectangle 3"/>
          <p:cNvSpPr/>
          <p:nvPr/>
        </p:nvSpPr>
        <p:spPr>
          <a:xfrm>
            <a:off x="731520" y="1371600"/>
            <a:ext cx="10728655" cy="2743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737360"/>
            <a:ext cx="5303520" cy="4389120"/>
          </a:xfrm>
          <a:prstGeom prst="rect">
            <a:avLst/>
          </a:prstGeom>
          <a:noFill/>
        </p:spPr>
        <p:txBody>
          <a:bodyPr wrap="square">
            <a:spAutoFit/>
          </a:bodyPr>
          <a:lstStyle/>
          <a:p>
            <a:pPr>
              <a:spcAft>
                <a:spcPts val="1200"/>
              </a:spcAft>
              <a:defRPr sz="2000" b="1">
                <a:solidFill>
                  <a:srgbClr val="0F172A"/>
                </a:solidFill>
                <a:latin typeface="Segoe UI"/>
              </a:defRPr>
            </a:pPr>
            <a:r>
              <a:t>What is RAG in Education?</a:t>
            </a:r>
          </a:p>
          <a:p>
            <a:pPr>
              <a:spcAft>
                <a:spcPts val="2000"/>
              </a:spcAft>
              <a:defRPr sz="1500">
                <a:solidFill>
                  <a:srgbClr val="1E293B"/>
                </a:solidFill>
                <a:latin typeface="Arial"/>
              </a:defRPr>
            </a:pPr>
            <a:r>
              <a:t>Retrieval-Augmented Generation (RAG) integrates semantic search with large language models. Instead of relying purely on a model's static pre-trained weights (which lead to hallucinations), RAG queries a reliable database of course transcripts, extracts relevant context, and passes it to the LLM to generate precise, grounded answers.</a:t>
            </a:r>
          </a:p>
          <a:p>
            <a:pPr>
              <a:spcAft>
                <a:spcPts val="1000"/>
              </a:spcAft>
              <a:defRPr sz="1600" b="1">
                <a:solidFill>
                  <a:srgbClr val="0F172A"/>
                </a:solidFill>
                <a:latin typeface="Segoe UI"/>
              </a:defRPr>
            </a:pPr>
            <a:r>
              <a:t>Key Benefits for Students:</a:t>
            </a:r>
          </a:p>
          <a:p>
            <a:pPr>
              <a:spcAft>
                <a:spcPts val="600"/>
              </a:spcAft>
              <a:defRPr sz="1400">
                <a:solidFill>
                  <a:srgbClr val="64748B"/>
                </a:solidFill>
                <a:latin typeface="Arial"/>
              </a:defRPr>
            </a:pPr>
            <a:r>
              <a:t>•  Chat directly with the lecture materials.</a:t>
            </a:r>
          </a:p>
          <a:p>
            <a:pPr>
              <a:spcAft>
                <a:spcPts val="600"/>
              </a:spcAft>
              <a:defRPr sz="1400">
                <a:solidFill>
                  <a:srgbClr val="64748B"/>
                </a:solidFill>
                <a:latin typeface="Arial"/>
              </a:defRPr>
            </a:pPr>
            <a:r>
              <a:t>•  Zero hallucination answers: derived strictly from the videos.</a:t>
            </a:r>
          </a:p>
          <a:p>
            <a:pPr>
              <a:spcAft>
                <a:spcPts val="600"/>
              </a:spcAft>
              <a:defRPr sz="1400">
                <a:solidFill>
                  <a:srgbClr val="64748B"/>
                </a:solidFill>
                <a:latin typeface="Arial"/>
              </a:defRPr>
            </a:pPr>
            <a:r>
              <a:t>•  Hyperlinked direct references to precise seconds in the timeline.</a:t>
            </a:r>
          </a:p>
        </p:txBody>
      </p:sp>
      <p:sp>
        <p:nvSpPr>
          <p:cNvPr id="6" name="Rounded Rectangle 5"/>
          <p:cNvSpPr/>
          <p:nvPr/>
        </p:nvSpPr>
        <p:spPr>
          <a:xfrm>
            <a:off x="6400800" y="1737360"/>
            <a:ext cx="5029200" cy="1280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0" y="1828800"/>
            <a:ext cx="4663440" cy="1097280"/>
          </a:xfrm>
          <a:prstGeom prst="rect">
            <a:avLst/>
          </a:prstGeom>
          <a:noFill/>
        </p:spPr>
        <p:txBody>
          <a:bodyPr wrap="square" lIns="0" tIns="0" bIns="0" rIns="0">
            <a:spAutoFit/>
          </a:bodyPr>
          <a:lstStyle/>
          <a:p>
            <a:pPr>
              <a:spcAft>
                <a:spcPts val="400"/>
              </a:spcAft>
              <a:defRPr sz="1400" b="1">
                <a:solidFill>
                  <a:srgbClr val="0F172A"/>
                </a:solidFill>
                <a:latin typeface="Segoe UI"/>
              </a:defRPr>
            </a:pPr>
            <a:r>
              <a:t>1. Transcription &amp; Translation</a:t>
            </a:r>
          </a:p>
          <a:p>
            <a:pPr>
              <a:defRPr sz="1150">
                <a:solidFill>
                  <a:srgbClr val="64748B"/>
                </a:solidFill>
                <a:latin typeface="Arial"/>
              </a:defRPr>
            </a:pPr>
            <a:r>
              <a:t>OpenAI Whisper transcribes multi-lingual audios and translates mixed speech into English structured transcripts.</a:t>
            </a:r>
          </a:p>
        </p:txBody>
      </p:sp>
      <p:sp>
        <p:nvSpPr>
          <p:cNvPr id="8" name="Rounded Rectangle 7"/>
          <p:cNvSpPr/>
          <p:nvPr/>
        </p:nvSpPr>
        <p:spPr>
          <a:xfrm>
            <a:off x="6400800" y="3200400"/>
            <a:ext cx="5029200" cy="1280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0" y="3291840"/>
            <a:ext cx="4663440" cy="1097280"/>
          </a:xfrm>
          <a:prstGeom prst="rect">
            <a:avLst/>
          </a:prstGeom>
          <a:noFill/>
        </p:spPr>
        <p:txBody>
          <a:bodyPr wrap="square" lIns="0" tIns="0" bIns="0" rIns="0">
            <a:spAutoFit/>
          </a:bodyPr>
          <a:lstStyle/>
          <a:p>
            <a:pPr>
              <a:spcAft>
                <a:spcPts val="400"/>
              </a:spcAft>
              <a:defRPr sz="1400" b="1">
                <a:solidFill>
                  <a:srgbClr val="0F172A"/>
                </a:solidFill>
                <a:latin typeface="Segoe UI"/>
              </a:defRPr>
            </a:pPr>
            <a:r>
              <a:t>2. Vector Embeddings</a:t>
            </a:r>
          </a:p>
          <a:p>
            <a:pPr>
              <a:defRPr sz="1150">
                <a:solidFill>
                  <a:srgbClr val="64748B"/>
                </a:solidFill>
                <a:latin typeface="Arial"/>
              </a:defRPr>
            </a:pPr>
            <a:r>
              <a:t>Ollama with local model BGE-M3 encodes the textual transcripts into numerical embeddings representing semantic meaning.</a:t>
            </a:r>
          </a:p>
        </p:txBody>
      </p:sp>
      <p:sp>
        <p:nvSpPr>
          <p:cNvPr id="10" name="Rounded Rectangle 9"/>
          <p:cNvSpPr/>
          <p:nvPr/>
        </p:nvSpPr>
        <p:spPr>
          <a:xfrm>
            <a:off x="6400800" y="4663440"/>
            <a:ext cx="5029200" cy="1280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0" y="4754879"/>
            <a:ext cx="4663440" cy="1097280"/>
          </a:xfrm>
          <a:prstGeom prst="rect">
            <a:avLst/>
          </a:prstGeom>
          <a:noFill/>
        </p:spPr>
        <p:txBody>
          <a:bodyPr wrap="square" lIns="0" tIns="0" bIns="0" rIns="0">
            <a:spAutoFit/>
          </a:bodyPr>
          <a:lstStyle/>
          <a:p>
            <a:pPr>
              <a:spcAft>
                <a:spcPts val="400"/>
              </a:spcAft>
              <a:defRPr sz="1400" b="1">
                <a:solidFill>
                  <a:srgbClr val="0F172A"/>
                </a:solidFill>
                <a:latin typeface="Segoe UI"/>
              </a:defRPr>
            </a:pPr>
            <a:r>
              <a:t>3. Context-Guided LLM Q&amp;A</a:t>
            </a:r>
          </a:p>
          <a:p>
            <a:pPr>
              <a:defRPr sz="1150">
                <a:solidFill>
                  <a:srgbClr val="64748B"/>
                </a:solidFill>
                <a:latin typeface="Arial"/>
              </a:defRPr>
            </a:pPr>
            <a:r>
              <a:t>Cosine similarity extracts the top relevant sections, and a local LLM (Llama 3.2) generates clear answers with timestamps.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rIns="0" tIns="0" bIns="0">
            <a:spAutoFit/>
          </a:bodyPr>
          <a:lstStyle/>
          <a:p>
            <a:pPr>
              <a:defRPr sz="1000" b="1">
                <a:solidFill>
                  <a:srgbClr val="0EA5E9"/>
                </a:solidFill>
                <a:latin typeface="Segoe UI"/>
              </a:defRPr>
            </a:pPr>
            <a:r>
              <a:t>IMPLEMENTATION DESIGN</a:t>
            </a:r>
          </a:p>
        </p:txBody>
      </p:sp>
      <p:sp>
        <p:nvSpPr>
          <p:cNvPr id="3" name="TextBox 2"/>
          <p:cNvSpPr txBox="1"/>
          <p:nvPr/>
        </p:nvSpPr>
        <p:spPr>
          <a:xfrm>
            <a:off x="731520" y="640080"/>
            <a:ext cx="10698480" cy="731520"/>
          </a:xfrm>
          <a:prstGeom prst="rect">
            <a:avLst/>
          </a:prstGeom>
          <a:noFill/>
        </p:spPr>
        <p:txBody>
          <a:bodyPr wrap="square" lIns="0" rIns="0" tIns="0" bIns="0">
            <a:spAutoFit/>
          </a:bodyPr>
          <a:lstStyle/>
          <a:p>
            <a:pPr>
              <a:defRPr sz="2800" b="1">
                <a:solidFill>
                  <a:srgbClr val="0F172A"/>
                </a:solidFill>
                <a:latin typeface="Segoe UI"/>
              </a:defRPr>
            </a:pPr>
            <a:r>
              <a:t>Core System Architecture &amp; Data Flow</a:t>
            </a:r>
          </a:p>
        </p:txBody>
      </p:sp>
      <p:sp>
        <p:nvSpPr>
          <p:cNvPr id="4" name="Rectangle 3"/>
          <p:cNvSpPr/>
          <p:nvPr/>
        </p:nvSpPr>
        <p:spPr>
          <a:xfrm>
            <a:off x="731520" y="1371600"/>
            <a:ext cx="10728655" cy="2743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2011680"/>
            <a:ext cx="2468880" cy="41148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148840"/>
            <a:ext cx="2194560" cy="3840480"/>
          </a:xfrm>
          <a:prstGeom prst="rect">
            <a:avLst/>
          </a:prstGeom>
          <a:noFill/>
        </p:spPr>
        <p:txBody>
          <a:bodyPr wrap="square" lIns="0" tIns="0" bIns="0" rIns="0">
            <a:spAutoFit/>
          </a:bodyPr>
          <a:lstStyle/>
          <a:p>
            <a:pPr>
              <a:spcAft>
                <a:spcPts val="400"/>
              </a:spcAft>
              <a:defRPr sz="1000" b="1">
                <a:solidFill>
                  <a:srgbClr val="0EA5E9"/>
                </a:solidFill>
                <a:latin typeface="Segoe UI"/>
              </a:defRPr>
            </a:pPr>
            <a:r>
              <a:t>STAGE 01</a:t>
            </a:r>
          </a:p>
          <a:p>
            <a:pPr>
              <a:spcAft>
                <a:spcPts val="400"/>
              </a:spcAft>
              <a:defRPr sz="1600" b="1">
                <a:solidFill>
                  <a:srgbClr val="0F172A"/>
                </a:solidFill>
                <a:latin typeface="Segoe UI"/>
              </a:defRPr>
            </a:pPr>
            <a:r>
              <a:t>INGESTION</a:t>
            </a:r>
          </a:p>
          <a:p>
            <a:pPr>
              <a:spcAft>
                <a:spcPts val="1200"/>
              </a:spcAft>
              <a:defRPr sz="1050" b="1">
                <a:solidFill>
                  <a:srgbClr val="64748B"/>
                </a:solidFill>
                <a:latin typeface="Arial"/>
              </a:defRPr>
            </a:pPr>
            <a:r>
              <a:t>Code: video_to_mp3.py</a:t>
            </a:r>
          </a:p>
          <a:p>
            <a:pPr>
              <a:spcAft>
                <a:spcPts val="2000"/>
              </a:spcAft>
              <a:defRPr sz="1100">
                <a:solidFill>
                  <a:srgbClr val="1E293B"/>
                </a:solidFill>
                <a:latin typeface="Arial"/>
              </a:defRPr>
            </a:pPr>
            <a:r>
              <a:t>Extracts audio tracks from MP4 video lectures using bulk subprocess operations and ffmpeg.</a:t>
            </a:r>
          </a:p>
          <a:p>
            <a:pPr>
              <a:defRPr sz="950" b="1">
                <a:solidFill>
                  <a:srgbClr val="0EA5E9"/>
                </a:solidFill>
                <a:latin typeface="Arial"/>
              </a:defRPr>
            </a:pPr>
            <a:r>
              <a:t>INPUT: .mp4 </a:t>
            </a:r>
            <a:br/>
            <a:r>
              <a:t>OUTPUT: .mp3</a:t>
            </a:r>
          </a:p>
        </p:txBody>
      </p:sp>
      <p:sp>
        <p:nvSpPr>
          <p:cNvPr id="7" name="Rectangle 6"/>
          <p:cNvSpPr/>
          <p:nvPr/>
        </p:nvSpPr>
        <p:spPr>
          <a:xfrm>
            <a:off x="3474720" y="2011680"/>
            <a:ext cx="2468880" cy="41148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11880" y="2148840"/>
            <a:ext cx="2194560" cy="3840480"/>
          </a:xfrm>
          <a:prstGeom prst="rect">
            <a:avLst/>
          </a:prstGeom>
          <a:noFill/>
        </p:spPr>
        <p:txBody>
          <a:bodyPr wrap="square" lIns="0" tIns="0" bIns="0" rIns="0">
            <a:spAutoFit/>
          </a:bodyPr>
          <a:lstStyle/>
          <a:p>
            <a:pPr>
              <a:spcAft>
                <a:spcPts val="400"/>
              </a:spcAft>
              <a:defRPr sz="1000" b="1">
                <a:solidFill>
                  <a:srgbClr val="0EA5E9"/>
                </a:solidFill>
                <a:latin typeface="Segoe UI"/>
              </a:defRPr>
            </a:pPr>
            <a:r>
              <a:t>STAGE 02</a:t>
            </a:r>
          </a:p>
          <a:p>
            <a:pPr>
              <a:spcAft>
                <a:spcPts val="400"/>
              </a:spcAft>
              <a:defRPr sz="1600" b="1">
                <a:solidFill>
                  <a:srgbClr val="0F172A"/>
                </a:solidFill>
                <a:latin typeface="Segoe UI"/>
              </a:defRPr>
            </a:pPr>
            <a:r>
              <a:t>TRANSCRIPTION</a:t>
            </a:r>
          </a:p>
          <a:p>
            <a:pPr>
              <a:spcAft>
                <a:spcPts val="1200"/>
              </a:spcAft>
              <a:defRPr sz="1050" b="1">
                <a:solidFill>
                  <a:srgbClr val="64748B"/>
                </a:solidFill>
                <a:latin typeface="Arial"/>
              </a:defRPr>
            </a:pPr>
            <a:r>
              <a:t>Code: mp3_to_json.py</a:t>
            </a:r>
          </a:p>
          <a:p>
            <a:pPr>
              <a:spcAft>
                <a:spcPts val="2000"/>
              </a:spcAft>
              <a:defRPr sz="1100">
                <a:solidFill>
                  <a:srgbClr val="1E293B"/>
                </a:solidFill>
                <a:latin typeface="Arial"/>
              </a:defRPr>
            </a:pPr>
            <a:r>
              <a:t>Utilizes local Whisper large-v2. Translates Hindi to English, structuring segments with start/end timestamps.</a:t>
            </a:r>
          </a:p>
          <a:p>
            <a:pPr>
              <a:defRPr sz="950" b="1">
                <a:solidFill>
                  <a:srgbClr val="0EA5E9"/>
                </a:solidFill>
                <a:latin typeface="Arial"/>
              </a:defRPr>
            </a:pPr>
            <a:r>
              <a:t>INPUT: .mp3 </a:t>
            </a:r>
            <a:br/>
            <a:r>
              <a:t>OUTPUT: .json</a:t>
            </a:r>
          </a:p>
        </p:txBody>
      </p:sp>
      <p:sp>
        <p:nvSpPr>
          <p:cNvPr id="9" name="Rectangle 8"/>
          <p:cNvSpPr/>
          <p:nvPr/>
        </p:nvSpPr>
        <p:spPr>
          <a:xfrm>
            <a:off x="6217920" y="2011680"/>
            <a:ext cx="2468880" cy="41148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2148840"/>
            <a:ext cx="2194560" cy="3840480"/>
          </a:xfrm>
          <a:prstGeom prst="rect">
            <a:avLst/>
          </a:prstGeom>
          <a:noFill/>
        </p:spPr>
        <p:txBody>
          <a:bodyPr wrap="square" lIns="0" tIns="0" bIns="0" rIns="0">
            <a:spAutoFit/>
          </a:bodyPr>
          <a:lstStyle/>
          <a:p>
            <a:pPr>
              <a:spcAft>
                <a:spcPts val="400"/>
              </a:spcAft>
              <a:defRPr sz="1000" b="1">
                <a:solidFill>
                  <a:srgbClr val="0EA5E9"/>
                </a:solidFill>
                <a:latin typeface="Segoe UI"/>
              </a:defRPr>
            </a:pPr>
            <a:r>
              <a:t>STAGE 03</a:t>
            </a:r>
          </a:p>
          <a:p>
            <a:pPr>
              <a:spcAft>
                <a:spcPts val="400"/>
              </a:spcAft>
              <a:defRPr sz="1600" b="1">
                <a:solidFill>
                  <a:srgbClr val="0F172A"/>
                </a:solidFill>
                <a:latin typeface="Segoe UI"/>
              </a:defRPr>
            </a:pPr>
            <a:r>
              <a:t>INDEXING</a:t>
            </a:r>
          </a:p>
          <a:p>
            <a:pPr>
              <a:spcAft>
                <a:spcPts val="1200"/>
              </a:spcAft>
              <a:defRPr sz="1050" b="1">
                <a:solidFill>
                  <a:srgbClr val="64748B"/>
                </a:solidFill>
                <a:latin typeface="Arial"/>
              </a:defRPr>
            </a:pPr>
            <a:r>
              <a:t>Code: preprocess_json.py</a:t>
            </a:r>
          </a:p>
          <a:p>
            <a:pPr>
              <a:spcAft>
                <a:spcPts val="2000"/>
              </a:spcAft>
              <a:defRPr sz="1100">
                <a:solidFill>
                  <a:srgbClr val="1E293B"/>
                </a:solidFill>
                <a:latin typeface="Arial"/>
              </a:defRPr>
            </a:pPr>
            <a:r>
              <a:t>Sends text chunks to local Ollama. Generates BGE-M3 embeddings, saving a consolidated joblib DataFrame.</a:t>
            </a:r>
          </a:p>
          <a:p>
            <a:pPr>
              <a:defRPr sz="950" b="1">
                <a:solidFill>
                  <a:srgbClr val="0EA5E9"/>
                </a:solidFill>
                <a:latin typeface="Arial"/>
              </a:defRPr>
            </a:pPr>
            <a:r>
              <a:t>INPUT: .json </a:t>
            </a:r>
            <a:br/>
            <a:r>
              <a:t>OUTPUT: .joblib</a:t>
            </a:r>
          </a:p>
        </p:txBody>
      </p:sp>
      <p:sp>
        <p:nvSpPr>
          <p:cNvPr id="11" name="Rectangle 10"/>
          <p:cNvSpPr/>
          <p:nvPr/>
        </p:nvSpPr>
        <p:spPr>
          <a:xfrm>
            <a:off x="8961120" y="2011680"/>
            <a:ext cx="2468880" cy="4114800"/>
          </a:xfrm>
          <a:prstGeom prst="rect">
            <a:avLst/>
          </a:prstGeom>
          <a:solidFill>
            <a:srgbClr val="FFFFFF"/>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98280" y="2148840"/>
            <a:ext cx="2194560" cy="3840480"/>
          </a:xfrm>
          <a:prstGeom prst="rect">
            <a:avLst/>
          </a:prstGeom>
          <a:noFill/>
        </p:spPr>
        <p:txBody>
          <a:bodyPr wrap="square" lIns="0" tIns="0" bIns="0" rIns="0">
            <a:spAutoFit/>
          </a:bodyPr>
          <a:lstStyle/>
          <a:p>
            <a:pPr>
              <a:spcAft>
                <a:spcPts val="400"/>
              </a:spcAft>
              <a:defRPr sz="1000" b="1">
                <a:solidFill>
                  <a:srgbClr val="0EA5E9"/>
                </a:solidFill>
                <a:latin typeface="Segoe UI"/>
              </a:defRPr>
            </a:pPr>
            <a:r>
              <a:t>STAGE 04</a:t>
            </a:r>
          </a:p>
          <a:p>
            <a:pPr>
              <a:spcAft>
                <a:spcPts val="400"/>
              </a:spcAft>
              <a:defRPr sz="1600" b="1">
                <a:solidFill>
                  <a:srgbClr val="0F172A"/>
                </a:solidFill>
                <a:latin typeface="Segoe UI"/>
              </a:defRPr>
            </a:pPr>
            <a:r>
              <a:t>RAG ENGINE</a:t>
            </a:r>
          </a:p>
          <a:p>
            <a:pPr>
              <a:spcAft>
                <a:spcPts val="1200"/>
              </a:spcAft>
              <a:defRPr sz="1050" b="1">
                <a:solidFill>
                  <a:srgbClr val="64748B"/>
                </a:solidFill>
                <a:latin typeface="Arial"/>
              </a:defRPr>
            </a:pPr>
            <a:r>
              <a:t>Code: process_incoming.py</a:t>
            </a:r>
          </a:p>
          <a:p>
            <a:pPr>
              <a:spcAft>
                <a:spcPts val="2000"/>
              </a:spcAft>
              <a:defRPr sz="1100">
                <a:solidFill>
                  <a:srgbClr val="1E293B"/>
                </a:solidFill>
                <a:latin typeface="Arial"/>
              </a:defRPr>
            </a:pPr>
            <a:r>
              <a:t>Accepts student queries, computes Cosine Similarity, extracts Top 5 hits, and prompts local Llama 3.2.</a:t>
            </a:r>
          </a:p>
          <a:p>
            <a:pPr>
              <a:defRPr sz="950" b="1">
                <a:solidFill>
                  <a:srgbClr val="0EA5E9"/>
                </a:solidFill>
                <a:latin typeface="Arial"/>
              </a:defRPr>
            </a:pPr>
            <a:r>
              <a:t>INPUT: Query </a:t>
            </a:r>
            <a:br/>
            <a:r>
              <a:t>OUTPUT: Response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rIns="0" tIns="0" bIns="0">
            <a:spAutoFit/>
          </a:bodyPr>
          <a:lstStyle/>
          <a:p>
            <a:pPr>
              <a:defRPr sz="1000" b="1">
                <a:solidFill>
                  <a:srgbClr val="0EA5E9"/>
                </a:solidFill>
                <a:latin typeface="Segoe UI"/>
              </a:defRPr>
            </a:pPr>
            <a:r>
              <a:t>TECHNICAL DEEP-DIVE</a:t>
            </a:r>
          </a:p>
        </p:txBody>
      </p:sp>
      <p:sp>
        <p:nvSpPr>
          <p:cNvPr id="3" name="TextBox 2"/>
          <p:cNvSpPr txBox="1"/>
          <p:nvPr/>
        </p:nvSpPr>
        <p:spPr>
          <a:xfrm>
            <a:off x="731520" y="640080"/>
            <a:ext cx="10698480" cy="731520"/>
          </a:xfrm>
          <a:prstGeom prst="rect">
            <a:avLst/>
          </a:prstGeom>
          <a:noFill/>
        </p:spPr>
        <p:txBody>
          <a:bodyPr wrap="square" lIns="0" rIns="0" tIns="0" bIns="0">
            <a:spAutoFit/>
          </a:bodyPr>
          <a:lstStyle/>
          <a:p>
            <a:pPr>
              <a:defRPr sz="2800" b="1">
                <a:solidFill>
                  <a:srgbClr val="0F172A"/>
                </a:solidFill>
                <a:latin typeface="Segoe UI"/>
              </a:defRPr>
            </a:pPr>
            <a:r>
              <a:t>Speech-to-Text &amp; Automatic Translation</a:t>
            </a:r>
          </a:p>
        </p:txBody>
      </p:sp>
      <p:sp>
        <p:nvSpPr>
          <p:cNvPr id="4" name="Rectangle 3"/>
          <p:cNvSpPr/>
          <p:nvPr/>
        </p:nvSpPr>
        <p:spPr>
          <a:xfrm>
            <a:off x="731520" y="1371600"/>
            <a:ext cx="10728655" cy="2743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737360"/>
            <a:ext cx="5303520" cy="4389120"/>
          </a:xfrm>
          <a:prstGeom prst="rect">
            <a:avLst/>
          </a:prstGeom>
          <a:noFill/>
        </p:spPr>
        <p:txBody>
          <a:bodyPr wrap="square">
            <a:spAutoFit/>
          </a:bodyPr>
          <a:lstStyle/>
          <a:p>
            <a:pPr>
              <a:spcAft>
                <a:spcPts val="1200"/>
              </a:spcAft>
              <a:defRPr sz="2000" b="1">
                <a:solidFill>
                  <a:srgbClr val="0F172A"/>
                </a:solidFill>
                <a:latin typeface="Segoe UI"/>
              </a:defRPr>
            </a:pPr>
            <a:r>
              <a:t>OpenAI Whisper Model Deployment</a:t>
            </a:r>
          </a:p>
          <a:p>
            <a:pPr>
              <a:spcAft>
                <a:spcPts val="300"/>
              </a:spcAft>
              <a:defRPr sz="1500" b="1">
                <a:solidFill>
                  <a:srgbClr val="1E293B"/>
                </a:solidFill>
                <a:latin typeface="Arial"/>
              </a:defRPr>
            </a:pPr>
            <a:r>
              <a:t>•  Local Inference</a:t>
            </a:r>
          </a:p>
          <a:p>
            <a:pPr>
              <a:spcAft>
                <a:spcPts val="1200"/>
              </a:spcAft>
              <a:defRPr sz="1300">
                <a:solidFill>
                  <a:srgbClr val="64748B"/>
                </a:solidFill>
                <a:latin typeface="Arial"/>
              </a:defRPr>
            </a:pPr>
            <a:r>
              <a:t>Utilizes the high-quality OpenAI Whisper Large-v2 model entirely on the local GPU/CPU. Eliminates cloud transcription costs.</a:t>
            </a:r>
          </a:p>
          <a:p>
            <a:pPr>
              <a:spcAft>
                <a:spcPts val="300"/>
              </a:spcAft>
              <a:defRPr sz="1500" b="1">
                <a:solidFill>
                  <a:srgbClr val="1E293B"/>
                </a:solidFill>
                <a:latin typeface="Arial"/>
              </a:defRPr>
            </a:pPr>
            <a:r>
              <a:t>•  Multilingual Translation</a:t>
            </a:r>
          </a:p>
          <a:p>
            <a:pPr>
              <a:spcAft>
                <a:spcPts val="1200"/>
              </a:spcAft>
              <a:defRPr sz="1300">
                <a:solidFill>
                  <a:srgbClr val="64748B"/>
                </a:solidFill>
                <a:latin typeface="Arial"/>
              </a:defRPr>
            </a:pPr>
            <a:r>
              <a:t>Specifically engineered with `language='hi'` and `task='translate'` inside the python codebase. Spoken Hindi/Hinglish lectures are transcribed and translated instantly to English text segments.</a:t>
            </a:r>
          </a:p>
          <a:p>
            <a:pPr>
              <a:spcAft>
                <a:spcPts val="300"/>
              </a:spcAft>
              <a:defRPr sz="1500" b="1">
                <a:solidFill>
                  <a:srgbClr val="1E293B"/>
                </a:solidFill>
                <a:latin typeface="Arial"/>
              </a:defRPr>
            </a:pPr>
            <a:r>
              <a:t>•  Temporal Segment Mapping</a:t>
            </a:r>
          </a:p>
          <a:p>
            <a:pPr>
              <a:spcAft>
                <a:spcPts val="1200"/>
              </a:spcAft>
              <a:defRPr sz="1300">
                <a:solidFill>
                  <a:srgbClr val="64748B"/>
                </a:solidFill>
                <a:latin typeface="Arial"/>
              </a:defRPr>
            </a:pPr>
            <a:r>
              <a:t>Unlike standard transcribers, Whisper preserves exact timestamps (start/end in seconds) for every statement, allowing micro-targeting of video sections.</a:t>
            </a:r>
          </a:p>
        </p:txBody>
      </p:sp>
      <p:sp>
        <p:nvSpPr>
          <p:cNvPr id="6" name="Rounded Rectangle 5"/>
          <p:cNvSpPr/>
          <p:nvPr/>
        </p:nvSpPr>
        <p:spPr>
          <a:xfrm>
            <a:off x="6400800" y="1737360"/>
            <a:ext cx="5029200" cy="438912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0" y="2011680"/>
            <a:ext cx="4480560" cy="3840480"/>
          </a:xfrm>
          <a:prstGeom prst="rect">
            <a:avLst/>
          </a:prstGeom>
          <a:noFill/>
        </p:spPr>
        <p:txBody>
          <a:bodyPr wrap="square">
            <a:spAutoFit/>
          </a:bodyPr>
          <a:lstStyle/>
          <a:p>
            <a:pPr>
              <a:spcAft>
                <a:spcPts val="1400"/>
              </a:spcAft>
              <a:defRPr sz="1300" b="1">
                <a:solidFill>
                  <a:srgbClr val="0EA5E9"/>
                </a:solidFill>
                <a:latin typeface="Segoe UI"/>
              </a:defRPr>
            </a:pPr>
            <a:r>
              <a:t>Whisper Integration Code</a:t>
            </a:r>
          </a:p>
          <a:p>
            <a:pPr>
              <a:spcAft>
                <a:spcPts val="0"/>
              </a:spcAft>
              <a:defRPr sz="1000">
                <a:solidFill>
                  <a:srgbClr val="FFFFFF"/>
                </a:solidFill>
                <a:latin typeface="Consolas"/>
              </a:defRPr>
            </a:pPr>
            <a:r>
              <a:t>import whisper</a:t>
            </a:r>
          </a:p>
          <a:p>
            <a:pPr>
              <a:spcAft>
                <a:spcPts val="0"/>
              </a:spcAft>
              <a:defRPr sz="1000">
                <a:solidFill>
                  <a:srgbClr val="FFFFFF"/>
                </a:solidFill>
                <a:latin typeface="Consolas"/>
              </a:defRPr>
            </a:pPr>
            <a:r>
              <a:t>import json</a:t>
            </a:r>
          </a:p>
          <a:p>
            <a:pPr>
              <a:spcAft>
                <a:spcPts val="0"/>
              </a:spcAft>
              <a:defRPr sz="1000">
                <a:solidFill>
                  <a:srgbClr val="FFFFFF"/>
                </a:solidFill>
                <a:latin typeface="Consolas"/>
              </a:defRPr>
            </a:pPr>
          </a:p>
          <a:p>
            <a:pPr>
              <a:spcAft>
                <a:spcPts val="0"/>
              </a:spcAft>
              <a:defRPr sz="1000">
                <a:solidFill>
                  <a:srgbClr val="FFFFFF"/>
                </a:solidFill>
                <a:latin typeface="Consolas"/>
              </a:defRPr>
            </a:pPr>
            <a:r>
              <a:t># Load heavy v2 model locally</a:t>
            </a:r>
          </a:p>
          <a:p>
            <a:pPr>
              <a:spcAft>
                <a:spcPts val="0"/>
              </a:spcAft>
              <a:defRPr sz="1000">
                <a:solidFill>
                  <a:srgbClr val="FFFFFF"/>
                </a:solidFill>
                <a:latin typeface="Consolas"/>
              </a:defRPr>
            </a:pPr>
            <a:r>
              <a:t>model = whisper.load_model('large-v2')</a:t>
            </a:r>
          </a:p>
          <a:p>
            <a:pPr>
              <a:spcAft>
                <a:spcPts val="0"/>
              </a:spcAft>
              <a:defRPr sz="1000">
                <a:solidFill>
                  <a:srgbClr val="FFFFFF"/>
                </a:solidFill>
                <a:latin typeface="Consolas"/>
              </a:defRPr>
            </a:pPr>
          </a:p>
          <a:p>
            <a:pPr>
              <a:spcAft>
                <a:spcPts val="0"/>
              </a:spcAft>
              <a:defRPr sz="1000">
                <a:solidFill>
                  <a:srgbClr val="FFFFFF"/>
                </a:solidFill>
                <a:latin typeface="Consolas"/>
              </a:defRPr>
            </a:pPr>
            <a:r>
              <a:t># Transcribe and Translate Hindi to English</a:t>
            </a:r>
          </a:p>
          <a:p>
            <a:pPr>
              <a:spcAft>
                <a:spcPts val="0"/>
              </a:spcAft>
              <a:defRPr sz="1000">
                <a:solidFill>
                  <a:srgbClr val="FFFFFF"/>
                </a:solidFill>
                <a:latin typeface="Consolas"/>
              </a:defRPr>
            </a:pPr>
            <a:r>
              <a:t>result = model.transcribe(</a:t>
            </a:r>
          </a:p>
          <a:p>
            <a:pPr>
              <a:spcAft>
                <a:spcPts val="0"/>
              </a:spcAft>
              <a:defRPr sz="1000">
                <a:solidFill>
                  <a:srgbClr val="FFFFFF"/>
                </a:solidFill>
                <a:latin typeface="Consolas"/>
              </a:defRPr>
            </a:pPr>
            <a:r>
              <a:t>    audio = 'audios/lecture.mp3',</a:t>
            </a:r>
          </a:p>
          <a:p>
            <a:pPr>
              <a:spcAft>
                <a:spcPts val="0"/>
              </a:spcAft>
              <a:defRPr sz="1000">
                <a:solidFill>
                  <a:srgbClr val="FFFFFF"/>
                </a:solidFill>
                <a:latin typeface="Consolas"/>
              </a:defRPr>
            </a:pPr>
            <a:r>
              <a:t>    language = 'hi',</a:t>
            </a:r>
          </a:p>
          <a:p>
            <a:pPr>
              <a:spcAft>
                <a:spcPts val="0"/>
              </a:spcAft>
              <a:defRPr sz="1000">
                <a:solidFill>
                  <a:srgbClr val="FFFFFF"/>
                </a:solidFill>
                <a:latin typeface="Consolas"/>
              </a:defRPr>
            </a:pPr>
            <a:r>
              <a:t>    task = 'translate',</a:t>
            </a:r>
          </a:p>
          <a:p>
            <a:pPr>
              <a:spcAft>
                <a:spcPts val="0"/>
              </a:spcAft>
              <a:defRPr sz="1000">
                <a:solidFill>
                  <a:srgbClr val="FFFFFF"/>
                </a:solidFill>
                <a:latin typeface="Consolas"/>
              </a:defRPr>
            </a:pPr>
            <a:r>
              <a:t>    word_timestamps = False</a:t>
            </a:r>
          </a:p>
          <a:p>
            <a:pPr>
              <a:spcAft>
                <a:spcPts val="0"/>
              </a:spcAft>
              <a:defRPr sz="1000">
                <a:solidFill>
                  <a:srgbClr val="FFFFFF"/>
                </a:solidFill>
                <a:latin typeface="Consolas"/>
              </a:defRPr>
            </a:pPr>
            <a:r>
              <a:t>)</a:t>
            </a:r>
          </a:p>
          <a:p>
            <a:pPr>
              <a:spcAft>
                <a:spcPts val="0"/>
              </a:spcAft>
              <a:defRPr sz="1000">
                <a:solidFill>
                  <a:srgbClr val="FFFFFF"/>
                </a:solidFill>
                <a:latin typeface="Consolas"/>
              </a:defRPr>
            </a:pPr>
          </a:p>
          <a:p>
            <a:pPr>
              <a:spcAft>
                <a:spcPts val="0"/>
              </a:spcAft>
              <a:defRPr sz="1000">
                <a:solidFill>
                  <a:srgbClr val="FFFFFF"/>
                </a:solidFill>
                <a:latin typeface="Consolas"/>
              </a:defRPr>
            </a:pPr>
            <a:r>
              <a:t># Map structured segments to JSON chunks</a:t>
            </a:r>
          </a:p>
          <a:p>
            <a:pPr>
              <a:spcAft>
                <a:spcPts val="0"/>
              </a:spcAft>
              <a:defRPr sz="1000">
                <a:solidFill>
                  <a:srgbClr val="FFFFFF"/>
                </a:solidFill>
                <a:latin typeface="Consolas"/>
              </a:defRPr>
            </a:pPr>
            <a:r>
              <a:t>for segment in result['segments']:</a:t>
            </a:r>
          </a:p>
          <a:p>
            <a:pPr>
              <a:spcAft>
                <a:spcPts val="0"/>
              </a:spcAft>
              <a:defRPr sz="1000">
                <a:solidFill>
                  <a:srgbClr val="FFFFFF"/>
                </a:solidFill>
                <a:latin typeface="Consolas"/>
              </a:defRPr>
            </a:pPr>
            <a:r>
              <a:t>    chunks.append({</a:t>
            </a:r>
          </a:p>
          <a:p>
            <a:pPr>
              <a:spcAft>
                <a:spcPts val="0"/>
              </a:spcAft>
              <a:defRPr sz="1000">
                <a:solidFill>
                  <a:srgbClr val="FFFFFF"/>
                </a:solidFill>
                <a:latin typeface="Consolas"/>
              </a:defRPr>
            </a:pPr>
            <a:r>
              <a:t>        'start': segment['start'],</a:t>
            </a:r>
          </a:p>
          <a:p>
            <a:pPr>
              <a:spcAft>
                <a:spcPts val="0"/>
              </a:spcAft>
              <a:defRPr sz="1000">
                <a:solidFill>
                  <a:srgbClr val="FFFFFF"/>
                </a:solidFill>
                <a:latin typeface="Consolas"/>
              </a:defRPr>
            </a:pPr>
            <a:r>
              <a:t>        'end': segment['end'],</a:t>
            </a:r>
          </a:p>
          <a:p>
            <a:pPr>
              <a:spcAft>
                <a:spcPts val="0"/>
              </a:spcAft>
              <a:defRPr sz="1000">
                <a:solidFill>
                  <a:srgbClr val="FFFFFF"/>
                </a:solidFill>
                <a:latin typeface="Consolas"/>
              </a:defRPr>
            </a:pPr>
            <a:r>
              <a:t>        'text': segment['text']</a:t>
            </a:r>
          </a:p>
          <a:p>
            <a:pPr>
              <a:spcAft>
                <a:spcPts val="0"/>
              </a:spcAft>
              <a:defRPr sz="1000">
                <a:solidFill>
                  <a:srgbClr val="FFFFFF"/>
                </a:solidFill>
                <a:latin typeface="Consolas"/>
              </a:defRPr>
            </a:pPr>
            <a:r>
              <a:t>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rIns="0" tIns="0" bIns="0">
            <a:spAutoFit/>
          </a:bodyPr>
          <a:lstStyle/>
          <a:p>
            <a:pPr>
              <a:defRPr sz="1000" b="1">
                <a:solidFill>
                  <a:srgbClr val="0EA5E9"/>
                </a:solidFill>
                <a:latin typeface="Segoe UI"/>
              </a:defRPr>
            </a:pPr>
            <a:r>
              <a:t>TECHNICAL DEEP-DIVE</a:t>
            </a:r>
          </a:p>
        </p:txBody>
      </p:sp>
      <p:sp>
        <p:nvSpPr>
          <p:cNvPr id="3" name="TextBox 2"/>
          <p:cNvSpPr txBox="1"/>
          <p:nvPr/>
        </p:nvSpPr>
        <p:spPr>
          <a:xfrm>
            <a:off x="731520" y="640080"/>
            <a:ext cx="10698480" cy="731520"/>
          </a:xfrm>
          <a:prstGeom prst="rect">
            <a:avLst/>
          </a:prstGeom>
          <a:noFill/>
        </p:spPr>
        <p:txBody>
          <a:bodyPr wrap="square" lIns="0" rIns="0" tIns="0" bIns="0">
            <a:spAutoFit/>
          </a:bodyPr>
          <a:lstStyle/>
          <a:p>
            <a:pPr>
              <a:defRPr sz="2800" b="1">
                <a:solidFill>
                  <a:srgbClr val="0F172A"/>
                </a:solidFill>
                <a:latin typeface="Segoe UI"/>
              </a:defRPr>
            </a:pPr>
            <a:r>
              <a:t>Vector Embeddings &amp; DataFrame Indexing</a:t>
            </a:r>
          </a:p>
        </p:txBody>
      </p:sp>
      <p:sp>
        <p:nvSpPr>
          <p:cNvPr id="4" name="Rectangle 3"/>
          <p:cNvSpPr/>
          <p:nvPr/>
        </p:nvSpPr>
        <p:spPr>
          <a:xfrm>
            <a:off x="731520" y="1371600"/>
            <a:ext cx="10728655" cy="2743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737360"/>
            <a:ext cx="5303520" cy="4389120"/>
          </a:xfrm>
          <a:prstGeom prst="rect">
            <a:avLst/>
          </a:prstGeom>
          <a:noFill/>
        </p:spPr>
        <p:txBody>
          <a:bodyPr wrap="square">
            <a:spAutoFit/>
          </a:bodyPr>
          <a:lstStyle/>
          <a:p>
            <a:pPr>
              <a:spcAft>
                <a:spcPts val="1200"/>
              </a:spcAft>
              <a:defRPr sz="2000" b="1">
                <a:solidFill>
                  <a:srgbClr val="0F172A"/>
                </a:solidFill>
                <a:latin typeface="Segoe UI"/>
              </a:defRPr>
            </a:pPr>
            <a:r>
              <a:t>Ollama Local Vector Indexing</a:t>
            </a:r>
          </a:p>
          <a:p>
            <a:pPr>
              <a:spcAft>
                <a:spcPts val="300"/>
              </a:spcAft>
              <a:defRPr sz="1500" b="1">
                <a:solidFill>
                  <a:srgbClr val="1E293B"/>
                </a:solidFill>
                <a:latin typeface="Arial"/>
              </a:defRPr>
            </a:pPr>
            <a:r>
              <a:t>•  Ollama Local API Service</a:t>
            </a:r>
          </a:p>
          <a:p>
            <a:pPr>
              <a:spcAft>
                <a:spcPts val="1200"/>
              </a:spcAft>
              <a:defRPr sz="1300">
                <a:solidFill>
                  <a:srgbClr val="64748B"/>
                </a:solidFill>
                <a:latin typeface="Arial"/>
              </a:defRPr>
            </a:pPr>
            <a:r>
              <a:t>Hosting models locally on `http://localhost:11434`. Restricts data sharing and saves network bandwidth, guaranteeing privacy.</a:t>
            </a:r>
          </a:p>
          <a:p>
            <a:pPr>
              <a:spcAft>
                <a:spcPts val="300"/>
              </a:spcAft>
              <a:defRPr sz="1500" b="1">
                <a:solidFill>
                  <a:srgbClr val="1E293B"/>
                </a:solidFill>
                <a:latin typeface="Arial"/>
              </a:defRPr>
            </a:pPr>
            <a:r>
              <a:t>•  BGE-M3 State-of-the-Art Embeddings</a:t>
            </a:r>
          </a:p>
          <a:p>
            <a:pPr>
              <a:spcAft>
                <a:spcPts val="1200"/>
              </a:spcAft>
              <a:defRPr sz="1300">
                <a:solidFill>
                  <a:srgbClr val="64748B"/>
                </a:solidFill>
                <a:latin typeface="Arial"/>
              </a:defRPr>
            </a:pPr>
            <a:r>
              <a:t>Uses BAAI's `bge-m3` embedding model. Highly optimized for RAG operations and capable of processing multi-lingual inputs into 1024-dimensional dense vectors.</a:t>
            </a:r>
          </a:p>
          <a:p>
            <a:pPr>
              <a:spcAft>
                <a:spcPts val="300"/>
              </a:spcAft>
              <a:defRPr sz="1500" b="1">
                <a:solidFill>
                  <a:srgbClr val="1E293B"/>
                </a:solidFill>
                <a:latin typeface="Arial"/>
              </a:defRPr>
            </a:pPr>
            <a:r>
              <a:t>•  Pandas &amp; Joblib Indexing</a:t>
            </a:r>
          </a:p>
          <a:p>
            <a:pPr>
              <a:spcAft>
                <a:spcPts val="1200"/>
              </a:spcAft>
              <a:defRPr sz="1300">
                <a:solidFill>
                  <a:srgbClr val="64748B"/>
                </a:solidFill>
                <a:latin typeface="Arial"/>
              </a:defRPr>
            </a:pPr>
            <a:r>
              <a:t>Transcripts and vectors are stored in a unified Pandas DataFrame. The DataFrame is serialized to a local file `embeddings.joblib` using `joblib.dump()`, securing high-speed retrieval.</a:t>
            </a:r>
          </a:p>
        </p:txBody>
      </p:sp>
      <p:sp>
        <p:nvSpPr>
          <p:cNvPr id="6" name="Rounded Rectangle 5"/>
          <p:cNvSpPr/>
          <p:nvPr/>
        </p:nvSpPr>
        <p:spPr>
          <a:xfrm>
            <a:off x="6400800" y="1737360"/>
            <a:ext cx="5029200" cy="438912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0" y="2011680"/>
            <a:ext cx="4480560" cy="3840480"/>
          </a:xfrm>
          <a:prstGeom prst="rect">
            <a:avLst/>
          </a:prstGeom>
          <a:noFill/>
        </p:spPr>
        <p:txBody>
          <a:bodyPr wrap="square">
            <a:spAutoFit/>
          </a:bodyPr>
          <a:lstStyle/>
          <a:p>
            <a:pPr>
              <a:spcAft>
                <a:spcPts val="1400"/>
              </a:spcAft>
              <a:defRPr sz="1300" b="1">
                <a:solidFill>
                  <a:srgbClr val="0EA5E9"/>
                </a:solidFill>
                <a:latin typeface="Segoe UI"/>
              </a:defRPr>
            </a:pPr>
            <a:r>
              <a:t>Ollama Embedding Code</a:t>
            </a:r>
          </a:p>
          <a:p>
            <a:pPr>
              <a:spcAft>
                <a:spcPts val="0"/>
              </a:spcAft>
              <a:defRPr sz="1000">
                <a:solidFill>
                  <a:srgbClr val="FFFFFF"/>
                </a:solidFill>
                <a:latin typeface="Consolas"/>
              </a:defRPr>
            </a:pPr>
            <a:r>
              <a:t>import requests</a:t>
            </a:r>
          </a:p>
          <a:p>
            <a:pPr>
              <a:spcAft>
                <a:spcPts val="0"/>
              </a:spcAft>
              <a:defRPr sz="1000">
                <a:solidFill>
                  <a:srgbClr val="FFFFFF"/>
                </a:solidFill>
                <a:latin typeface="Consolas"/>
              </a:defRPr>
            </a:pPr>
            <a:r>
              <a:t>import joblib</a:t>
            </a:r>
          </a:p>
          <a:p>
            <a:pPr>
              <a:spcAft>
                <a:spcPts val="0"/>
              </a:spcAft>
              <a:defRPr sz="1000">
                <a:solidFill>
                  <a:srgbClr val="FFFFFF"/>
                </a:solidFill>
                <a:latin typeface="Consolas"/>
              </a:defRPr>
            </a:pPr>
            <a:r>
              <a:t>import pandas as pd</a:t>
            </a:r>
          </a:p>
          <a:p>
            <a:pPr>
              <a:spcAft>
                <a:spcPts val="0"/>
              </a:spcAft>
              <a:defRPr sz="1000">
                <a:solidFill>
                  <a:srgbClr val="FFFFFF"/>
                </a:solidFill>
                <a:latin typeface="Consolas"/>
              </a:defRPr>
            </a:pPr>
          </a:p>
          <a:p>
            <a:pPr>
              <a:spcAft>
                <a:spcPts val="0"/>
              </a:spcAft>
              <a:defRPr sz="1000">
                <a:solidFill>
                  <a:srgbClr val="FFFFFF"/>
                </a:solidFill>
                <a:latin typeface="Consolas"/>
              </a:defRPr>
            </a:pPr>
            <a:r>
              <a:t>def create_embedding(text_list):</a:t>
            </a:r>
          </a:p>
          <a:p>
            <a:pPr>
              <a:spcAft>
                <a:spcPts val="0"/>
              </a:spcAft>
              <a:defRPr sz="1000">
                <a:solidFill>
                  <a:srgbClr val="FFFFFF"/>
                </a:solidFill>
                <a:latin typeface="Consolas"/>
              </a:defRPr>
            </a:pPr>
            <a:r>
              <a:t>    r = requests.post(</a:t>
            </a:r>
          </a:p>
          <a:p>
            <a:pPr>
              <a:spcAft>
                <a:spcPts val="0"/>
              </a:spcAft>
              <a:defRPr sz="1000">
                <a:solidFill>
                  <a:srgbClr val="FFFFFF"/>
                </a:solidFill>
                <a:latin typeface="Consolas"/>
              </a:defRPr>
            </a:pPr>
            <a:r>
              <a:t>        'http://localhost:11434/api/embed',</a:t>
            </a:r>
          </a:p>
          <a:p>
            <a:pPr>
              <a:spcAft>
                <a:spcPts val="0"/>
              </a:spcAft>
              <a:defRPr sz="1000">
                <a:solidFill>
                  <a:srgbClr val="FFFFFF"/>
                </a:solidFill>
                <a:latin typeface="Consolas"/>
              </a:defRPr>
            </a:pPr>
            <a:r>
              <a:t>        json={</a:t>
            </a:r>
          </a:p>
          <a:p>
            <a:pPr>
              <a:spcAft>
                <a:spcPts val="0"/>
              </a:spcAft>
              <a:defRPr sz="1000">
                <a:solidFill>
                  <a:srgbClr val="FFFFFF"/>
                </a:solidFill>
                <a:latin typeface="Consolas"/>
              </a:defRPr>
            </a:pPr>
            <a:r>
              <a:t>            'model': 'bge-m3',</a:t>
            </a:r>
          </a:p>
          <a:p>
            <a:pPr>
              <a:spcAft>
                <a:spcPts val="0"/>
              </a:spcAft>
              <a:defRPr sz="1000">
                <a:solidFill>
                  <a:srgbClr val="FFFFFF"/>
                </a:solidFill>
                <a:latin typeface="Consolas"/>
              </a:defRPr>
            </a:pPr>
            <a:r>
              <a:t>            'input': text_list</a:t>
            </a:r>
          </a:p>
          <a:p>
            <a:pPr>
              <a:spcAft>
                <a:spcPts val="0"/>
              </a:spcAft>
              <a:defRPr sz="1000">
                <a:solidFill>
                  <a:srgbClr val="FFFFFF"/>
                </a:solidFill>
                <a:latin typeface="Consolas"/>
              </a:defRPr>
            </a:pPr>
            <a:r>
              <a:t>        }</a:t>
            </a:r>
          </a:p>
          <a:p>
            <a:pPr>
              <a:spcAft>
                <a:spcPts val="0"/>
              </a:spcAft>
              <a:defRPr sz="1000">
                <a:solidFill>
                  <a:srgbClr val="FFFFFF"/>
                </a:solidFill>
                <a:latin typeface="Consolas"/>
              </a:defRPr>
            </a:pPr>
            <a:r>
              <a:t>    )</a:t>
            </a:r>
          </a:p>
          <a:p>
            <a:pPr>
              <a:spcAft>
                <a:spcPts val="0"/>
              </a:spcAft>
              <a:defRPr sz="1000">
                <a:solidFill>
                  <a:srgbClr val="FFFFFF"/>
                </a:solidFill>
                <a:latin typeface="Consolas"/>
              </a:defRPr>
            </a:pPr>
            <a:r>
              <a:t>    return r.json()['embeddings']</a:t>
            </a:r>
          </a:p>
          <a:p>
            <a:pPr>
              <a:spcAft>
                <a:spcPts val="0"/>
              </a:spcAft>
              <a:defRPr sz="1000">
                <a:solidFill>
                  <a:srgbClr val="FFFFFF"/>
                </a:solidFill>
                <a:latin typeface="Consolas"/>
              </a:defRPr>
            </a:pPr>
          </a:p>
          <a:p>
            <a:pPr>
              <a:spcAft>
                <a:spcPts val="0"/>
              </a:spcAft>
              <a:defRPr sz="1000">
                <a:solidFill>
                  <a:srgbClr val="FFFFFF"/>
                </a:solidFill>
                <a:latin typeface="Consolas"/>
              </a:defRPr>
            </a:pPr>
            <a:r>
              <a:t># Processing JSON transcript files</a:t>
            </a:r>
          </a:p>
          <a:p>
            <a:pPr>
              <a:spcAft>
                <a:spcPts val="0"/>
              </a:spcAft>
              <a:defRPr sz="1000">
                <a:solidFill>
                  <a:srgbClr val="FFFFFF"/>
                </a:solidFill>
                <a:latin typeface="Consolas"/>
              </a:defRPr>
            </a:pPr>
            <a:r>
              <a:t>embeddings = create_embedding([c['text'] for c in chunks])</a:t>
            </a:r>
          </a:p>
          <a:p>
            <a:pPr>
              <a:spcAft>
                <a:spcPts val="0"/>
              </a:spcAft>
              <a:defRPr sz="1000">
                <a:solidFill>
                  <a:srgbClr val="FFFFFF"/>
                </a:solidFill>
                <a:latin typeface="Consolas"/>
              </a:defRPr>
            </a:pPr>
            <a:r>
              <a:t>for i, chunk in enumerate(chunks):</a:t>
            </a:r>
          </a:p>
          <a:p>
            <a:pPr>
              <a:spcAft>
                <a:spcPts val="0"/>
              </a:spcAft>
              <a:defRPr sz="1000">
                <a:solidFill>
                  <a:srgbClr val="FFFFFF"/>
                </a:solidFill>
                <a:latin typeface="Consolas"/>
              </a:defRPr>
            </a:pPr>
            <a:r>
              <a:t>    chunk['embedding'] = embeddings[i]</a:t>
            </a:r>
          </a:p>
          <a:p>
            <a:pPr>
              <a:spcAft>
                <a:spcPts val="0"/>
              </a:spcAft>
              <a:defRPr sz="1000">
                <a:solidFill>
                  <a:srgbClr val="FFFFFF"/>
                </a:solidFill>
                <a:latin typeface="Consolas"/>
              </a:defRPr>
            </a:pPr>
          </a:p>
          <a:p>
            <a:pPr>
              <a:spcAft>
                <a:spcPts val="0"/>
              </a:spcAft>
              <a:defRPr sz="1000">
                <a:solidFill>
                  <a:srgbClr val="FFFFFF"/>
                </a:solidFill>
                <a:latin typeface="Consolas"/>
              </a:defRPr>
            </a:pPr>
            <a:r>
              <a:t>df = pd.DataFrame.from_records(chunks)</a:t>
            </a:r>
          </a:p>
          <a:p>
            <a:pPr>
              <a:spcAft>
                <a:spcPts val="0"/>
              </a:spcAft>
              <a:defRPr sz="1000">
                <a:solidFill>
                  <a:srgbClr val="FFFFFF"/>
                </a:solidFill>
                <a:latin typeface="Consolas"/>
              </a:defRPr>
            </a:pPr>
            <a:r>
              <a:t>joblib.dump(df, 'embeddings.joblib')</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rIns="0" tIns="0" bIns="0">
            <a:spAutoFit/>
          </a:bodyPr>
          <a:lstStyle/>
          <a:p>
            <a:pPr>
              <a:defRPr sz="1000" b="1">
                <a:solidFill>
                  <a:srgbClr val="0EA5E9"/>
                </a:solidFill>
                <a:latin typeface="Segoe UI"/>
              </a:defRPr>
            </a:pPr>
            <a:r>
              <a:t>TECHNICAL DEEP-DIVE</a:t>
            </a:r>
          </a:p>
        </p:txBody>
      </p:sp>
      <p:sp>
        <p:nvSpPr>
          <p:cNvPr id="3" name="TextBox 2"/>
          <p:cNvSpPr txBox="1"/>
          <p:nvPr/>
        </p:nvSpPr>
        <p:spPr>
          <a:xfrm>
            <a:off x="731520" y="640080"/>
            <a:ext cx="10698480" cy="731520"/>
          </a:xfrm>
          <a:prstGeom prst="rect">
            <a:avLst/>
          </a:prstGeom>
          <a:noFill/>
        </p:spPr>
        <p:txBody>
          <a:bodyPr wrap="square" lIns="0" rIns="0" tIns="0" bIns="0">
            <a:spAutoFit/>
          </a:bodyPr>
          <a:lstStyle/>
          <a:p>
            <a:pPr>
              <a:defRPr sz="2800" b="1">
                <a:solidFill>
                  <a:srgbClr val="0F172A"/>
                </a:solidFill>
                <a:latin typeface="Segoe UI"/>
              </a:defRPr>
            </a:pPr>
            <a:r>
              <a:t>Retrieval &amp; Grounded LLM Q&amp;A</a:t>
            </a:r>
          </a:p>
        </p:txBody>
      </p:sp>
      <p:sp>
        <p:nvSpPr>
          <p:cNvPr id="4" name="Rectangle 3"/>
          <p:cNvSpPr/>
          <p:nvPr/>
        </p:nvSpPr>
        <p:spPr>
          <a:xfrm>
            <a:off x="731520" y="1371600"/>
            <a:ext cx="10728655" cy="2743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737360"/>
            <a:ext cx="5303520" cy="4389120"/>
          </a:xfrm>
          <a:prstGeom prst="rect">
            <a:avLst/>
          </a:prstGeom>
          <a:noFill/>
        </p:spPr>
        <p:txBody>
          <a:bodyPr wrap="square">
            <a:spAutoFit/>
          </a:bodyPr>
          <a:lstStyle/>
          <a:p>
            <a:pPr>
              <a:spcAft>
                <a:spcPts val="1200"/>
              </a:spcAft>
              <a:defRPr sz="2000" b="1">
                <a:solidFill>
                  <a:srgbClr val="0F172A"/>
                </a:solidFill>
                <a:latin typeface="Segoe UI"/>
              </a:defRPr>
            </a:pPr>
            <a:r>
              <a:t>Mathematical Retrieval &amp; Generation</a:t>
            </a:r>
          </a:p>
          <a:p>
            <a:pPr>
              <a:spcAft>
                <a:spcPts val="300"/>
              </a:spcAft>
              <a:defRPr sz="1500" b="1">
                <a:solidFill>
                  <a:srgbClr val="1E293B"/>
                </a:solidFill>
                <a:latin typeface="Arial"/>
              </a:defRPr>
            </a:pPr>
            <a:r>
              <a:t>•  Cosine Similarity Retrieval</a:t>
            </a:r>
          </a:p>
          <a:p>
            <a:pPr>
              <a:spcAft>
                <a:spcPts val="1200"/>
              </a:spcAft>
              <a:defRPr sz="1300">
                <a:solidFill>
                  <a:srgbClr val="64748B"/>
                </a:solidFill>
                <a:latin typeface="Arial"/>
              </a:defRPr>
            </a:pPr>
            <a:r>
              <a:t>Queries are encoded, then measured mathematically using scikit-learn's `cosine_similarity` against all stored chunks. Highly accurate, sub-millisecond retrieval.</a:t>
            </a:r>
          </a:p>
          <a:p>
            <a:pPr>
              <a:spcAft>
                <a:spcPts val="300"/>
              </a:spcAft>
              <a:defRPr sz="1500" b="1">
                <a:solidFill>
                  <a:srgbClr val="1E293B"/>
                </a:solidFill>
                <a:latin typeface="Arial"/>
              </a:defRPr>
            </a:pPr>
            <a:r>
              <a:t>•  Top 5 Context Extraction</a:t>
            </a:r>
          </a:p>
          <a:p>
            <a:pPr>
              <a:spcAft>
                <a:spcPts val="1200"/>
              </a:spcAft>
              <a:defRPr sz="1300">
                <a:solidFill>
                  <a:srgbClr val="64748B"/>
                </a:solidFill>
                <a:latin typeface="Arial"/>
              </a:defRPr>
            </a:pPr>
            <a:r>
              <a:t>The system selects the highest scoring 5 segments, compiling them as raw JSON strings including video titles and timestamp intervals.</a:t>
            </a:r>
          </a:p>
          <a:p>
            <a:pPr>
              <a:spcAft>
                <a:spcPts val="300"/>
              </a:spcAft>
              <a:defRPr sz="1500" b="1">
                <a:solidFill>
                  <a:srgbClr val="1E293B"/>
                </a:solidFill>
                <a:latin typeface="Arial"/>
              </a:defRPr>
            </a:pPr>
            <a:r>
              <a:t>•  Llama 3.2 Inference</a:t>
            </a:r>
          </a:p>
          <a:p>
            <a:pPr>
              <a:spcAft>
                <a:spcPts val="1200"/>
              </a:spcAft>
              <a:defRPr sz="1300">
                <a:solidFill>
                  <a:srgbClr val="64748B"/>
                </a:solidFill>
                <a:latin typeface="Arial"/>
              </a:defRPr>
            </a:pPr>
            <a:r>
              <a:t>Prompts Llama 3.2 locally using Ollama (`/api/generate`). Instructs the LLM to restrict responses specifically to the retrieved contexts, eliminating hallucinations.</a:t>
            </a:r>
          </a:p>
        </p:txBody>
      </p:sp>
      <p:sp>
        <p:nvSpPr>
          <p:cNvPr id="6" name="Rounded Rectangle 5"/>
          <p:cNvSpPr/>
          <p:nvPr/>
        </p:nvSpPr>
        <p:spPr>
          <a:xfrm>
            <a:off x="6400800" y="1737360"/>
            <a:ext cx="5029200" cy="438912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0" y="2011680"/>
            <a:ext cx="4480560" cy="3840480"/>
          </a:xfrm>
          <a:prstGeom prst="rect">
            <a:avLst/>
          </a:prstGeom>
          <a:noFill/>
        </p:spPr>
        <p:txBody>
          <a:bodyPr wrap="square">
            <a:spAutoFit/>
          </a:bodyPr>
          <a:lstStyle/>
          <a:p>
            <a:pPr>
              <a:spcAft>
                <a:spcPts val="1400"/>
              </a:spcAft>
              <a:defRPr sz="1300" b="1">
                <a:solidFill>
                  <a:srgbClr val="0EA5E9"/>
                </a:solidFill>
                <a:latin typeface="Segoe UI"/>
              </a:defRPr>
            </a:pPr>
            <a:r>
              <a:t>Similarity &amp; Inference Code</a:t>
            </a:r>
          </a:p>
          <a:p>
            <a:pPr>
              <a:spcAft>
                <a:spcPts val="0"/>
              </a:spcAft>
              <a:defRPr sz="1000">
                <a:solidFill>
                  <a:srgbClr val="FFFFFF"/>
                </a:solidFill>
                <a:latin typeface="Consolas"/>
              </a:defRPr>
            </a:pPr>
            <a:r>
              <a:t>from sklearn.metrics.pairwise import cosine_similarity</a:t>
            </a:r>
          </a:p>
          <a:p>
            <a:pPr>
              <a:spcAft>
                <a:spcPts val="0"/>
              </a:spcAft>
              <a:defRPr sz="1000">
                <a:solidFill>
                  <a:srgbClr val="FFFFFF"/>
                </a:solidFill>
                <a:latin typeface="Consolas"/>
              </a:defRPr>
            </a:pPr>
            <a:r>
              <a:t>import numpy as np</a:t>
            </a:r>
          </a:p>
          <a:p>
            <a:pPr>
              <a:spcAft>
                <a:spcPts val="0"/>
              </a:spcAft>
              <a:defRPr sz="1000">
                <a:solidFill>
                  <a:srgbClr val="FFFFFF"/>
                </a:solidFill>
                <a:latin typeface="Consolas"/>
              </a:defRPr>
            </a:pPr>
          </a:p>
          <a:p>
            <a:pPr>
              <a:spcAft>
                <a:spcPts val="0"/>
              </a:spcAft>
              <a:defRPr sz="1000">
                <a:solidFill>
                  <a:srgbClr val="FFFFFF"/>
                </a:solidFill>
                <a:latin typeface="Consolas"/>
              </a:defRPr>
            </a:pPr>
            <a:r>
              <a:t># 1. Fetch query embedding</a:t>
            </a:r>
          </a:p>
          <a:p>
            <a:pPr>
              <a:spcAft>
                <a:spcPts val="0"/>
              </a:spcAft>
              <a:defRPr sz="1000">
                <a:solidFill>
                  <a:srgbClr val="FFFFFF"/>
                </a:solidFill>
                <a:latin typeface="Consolas"/>
              </a:defRPr>
            </a:pPr>
            <a:r>
              <a:t>q_embed = create_embedding([incoming_query])[0]</a:t>
            </a:r>
          </a:p>
          <a:p>
            <a:pPr>
              <a:spcAft>
                <a:spcPts val="0"/>
              </a:spcAft>
              <a:defRPr sz="1000">
                <a:solidFill>
                  <a:srgbClr val="FFFFFF"/>
                </a:solidFill>
                <a:latin typeface="Consolas"/>
              </a:defRPr>
            </a:pPr>
          </a:p>
          <a:p>
            <a:pPr>
              <a:spcAft>
                <a:spcPts val="0"/>
              </a:spcAft>
              <a:defRPr sz="1000">
                <a:solidFill>
                  <a:srgbClr val="FFFFFF"/>
                </a:solidFill>
                <a:latin typeface="Consolas"/>
              </a:defRPr>
            </a:pPr>
            <a:r>
              <a:t># 2. Calculate Cosine Similarity</a:t>
            </a:r>
          </a:p>
          <a:p>
            <a:pPr>
              <a:spcAft>
                <a:spcPts val="0"/>
              </a:spcAft>
              <a:defRPr sz="1000">
                <a:solidFill>
                  <a:srgbClr val="FFFFFF"/>
                </a:solidFill>
                <a:latin typeface="Consolas"/>
              </a:defRPr>
            </a:pPr>
            <a:r>
              <a:t>similarities = cosine_similarity(</a:t>
            </a:r>
          </a:p>
          <a:p>
            <a:pPr>
              <a:spcAft>
                <a:spcPts val="0"/>
              </a:spcAft>
              <a:defRPr sz="1000">
                <a:solidFill>
                  <a:srgbClr val="FFFFFF"/>
                </a:solidFill>
                <a:latin typeface="Consolas"/>
              </a:defRPr>
            </a:pPr>
            <a:r>
              <a:t>    np.vstack(df['embedding']), [q_embed]</a:t>
            </a:r>
          </a:p>
          <a:p>
            <a:pPr>
              <a:spcAft>
                <a:spcPts val="0"/>
              </a:spcAft>
              <a:defRPr sz="1000">
                <a:solidFill>
                  <a:srgbClr val="FFFFFF"/>
                </a:solidFill>
                <a:latin typeface="Consolas"/>
              </a:defRPr>
            </a:pPr>
            <a:r>
              <a:t>).flatten()</a:t>
            </a:r>
          </a:p>
          <a:p>
            <a:pPr>
              <a:spcAft>
                <a:spcPts val="0"/>
              </a:spcAft>
              <a:defRPr sz="1000">
                <a:solidFill>
                  <a:srgbClr val="FFFFFF"/>
                </a:solidFill>
                <a:latin typeface="Consolas"/>
              </a:defRPr>
            </a:pPr>
          </a:p>
          <a:p>
            <a:pPr>
              <a:spcAft>
                <a:spcPts val="0"/>
              </a:spcAft>
              <a:defRPr sz="1000">
                <a:solidFill>
                  <a:srgbClr val="FFFFFF"/>
                </a:solidFill>
                <a:latin typeface="Consolas"/>
              </a:defRPr>
            </a:pPr>
            <a:r>
              <a:t># 3. Extract Top-5 Indices</a:t>
            </a:r>
          </a:p>
          <a:p>
            <a:pPr>
              <a:spcAft>
                <a:spcPts val="0"/>
              </a:spcAft>
              <a:defRPr sz="1000">
                <a:solidFill>
                  <a:srgbClr val="FFFFFF"/>
                </a:solidFill>
                <a:latin typeface="Consolas"/>
              </a:defRPr>
            </a:pPr>
            <a:r>
              <a:t>max_idx = similarities.argsort()[::-1][:5]</a:t>
            </a:r>
          </a:p>
          <a:p>
            <a:pPr>
              <a:spcAft>
                <a:spcPts val="0"/>
              </a:spcAft>
              <a:defRPr sz="1000">
                <a:solidFill>
                  <a:srgbClr val="FFFFFF"/>
                </a:solidFill>
                <a:latin typeface="Consolas"/>
              </a:defRPr>
            </a:pPr>
            <a:r>
              <a:t>context_df = df.loc[max_idx]</a:t>
            </a:r>
          </a:p>
          <a:p>
            <a:pPr>
              <a:spcAft>
                <a:spcPts val="0"/>
              </a:spcAft>
              <a:defRPr sz="1000">
                <a:solidFill>
                  <a:srgbClr val="FFFFFF"/>
                </a:solidFill>
                <a:latin typeface="Consolas"/>
              </a:defRPr>
            </a:pPr>
          </a:p>
          <a:p>
            <a:pPr>
              <a:spcAft>
                <a:spcPts val="0"/>
              </a:spcAft>
              <a:defRPr sz="1000">
                <a:solidFill>
                  <a:srgbClr val="FFFFFF"/>
                </a:solidFill>
                <a:latin typeface="Consolas"/>
              </a:defRPr>
            </a:pPr>
            <a:r>
              <a:t># 4. Structured RAG Prompt Setup</a:t>
            </a:r>
          </a:p>
          <a:p>
            <a:pPr>
              <a:spcAft>
                <a:spcPts val="0"/>
              </a:spcAft>
              <a:defRPr sz="1000">
                <a:solidFill>
                  <a:srgbClr val="FFFFFF"/>
                </a:solidFill>
                <a:latin typeface="Consolas"/>
              </a:defRPr>
            </a:pPr>
            <a:r>
              <a:t>prompt = f'''</a:t>
            </a:r>
          </a:p>
          <a:p>
            <a:pPr>
              <a:spcAft>
                <a:spcPts val="0"/>
              </a:spcAft>
              <a:defRPr sz="1000">
                <a:solidFill>
                  <a:srgbClr val="FFFFFF"/>
                </a:solidFill>
                <a:latin typeface="Consolas"/>
              </a:defRPr>
            </a:pPr>
            <a:r>
              <a:t>Here are video subtitle chunks:</a:t>
            </a:r>
          </a:p>
          <a:p>
            <a:pPr>
              <a:spcAft>
                <a:spcPts val="0"/>
              </a:spcAft>
              <a:defRPr sz="1000">
                <a:solidFill>
                  <a:srgbClr val="FFFFFF"/>
                </a:solidFill>
                <a:latin typeface="Consolas"/>
              </a:defRPr>
            </a:pPr>
            <a:r>
              <a:t>{context_df.to_json(orient='records')}</a:t>
            </a:r>
          </a:p>
          <a:p>
            <a:pPr>
              <a:spcAft>
                <a:spcPts val="0"/>
              </a:spcAft>
              <a:defRPr sz="1000">
                <a:solidFill>
                  <a:srgbClr val="FFFFFF"/>
                </a:solidFill>
                <a:latin typeface="Consolas"/>
              </a:defRPr>
            </a:pPr>
            <a:r>
              <a:t>---</a:t>
            </a:r>
          </a:p>
          <a:p>
            <a:pPr>
              <a:spcAft>
                <a:spcPts val="0"/>
              </a:spcAft>
              <a:defRPr sz="1000">
                <a:solidFill>
                  <a:srgbClr val="FFFFFF"/>
                </a:solidFill>
                <a:latin typeface="Consolas"/>
              </a:defRPr>
            </a:pPr>
            <a:r>
              <a:t>Answer user query: '{incoming_query}'</a:t>
            </a:r>
          </a:p>
          <a:p>
            <a:pPr>
              <a:spcAft>
                <a:spcPts val="0"/>
              </a:spcAft>
              <a:defRPr sz="1000">
                <a:solidFill>
                  <a:srgbClr val="FFFFFF"/>
                </a:solidFill>
                <a:latin typeface="Consolas"/>
              </a:defRPr>
            </a:pPr>
            <a:r>
              <a:t>Include video name and exact timestamps...</a:t>
            </a:r>
          </a:p>
          <a:p>
            <a:pPr>
              <a:spcAft>
                <a:spcPts val="0"/>
              </a:spcAft>
              <a:defRPr sz="1000">
                <a:solidFill>
                  <a:srgbClr val="FFFFFF"/>
                </a:solidFill>
                <a:latin typeface="Consolas"/>
              </a:defRPr>
            </a:pPr>
            <a:r>
              <a: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rIns="0" tIns="0" bIns="0">
            <a:spAutoFit/>
          </a:bodyPr>
          <a:lstStyle/>
          <a:p>
            <a:pPr>
              <a:defRPr sz="1000" b="1">
                <a:solidFill>
                  <a:srgbClr val="0EA5E9"/>
                </a:solidFill>
                <a:latin typeface="Segoe UI"/>
              </a:defRPr>
            </a:pPr>
            <a:r>
              <a:t>RAG PROMPT ENGINEERING</a:t>
            </a:r>
          </a:p>
        </p:txBody>
      </p:sp>
      <p:sp>
        <p:nvSpPr>
          <p:cNvPr id="3" name="TextBox 2"/>
          <p:cNvSpPr txBox="1"/>
          <p:nvPr/>
        </p:nvSpPr>
        <p:spPr>
          <a:xfrm>
            <a:off x="731520" y="640080"/>
            <a:ext cx="10698480" cy="731520"/>
          </a:xfrm>
          <a:prstGeom prst="rect">
            <a:avLst/>
          </a:prstGeom>
          <a:noFill/>
        </p:spPr>
        <p:txBody>
          <a:bodyPr wrap="square" lIns="0" rIns="0" tIns="0" bIns="0">
            <a:spAutoFit/>
          </a:bodyPr>
          <a:lstStyle/>
          <a:p>
            <a:pPr>
              <a:defRPr sz="2800" b="1">
                <a:solidFill>
                  <a:srgbClr val="0F172A"/>
                </a:solidFill>
                <a:latin typeface="Segoe UI"/>
              </a:defRPr>
            </a:pPr>
            <a:r>
              <a:t>Grounded System Prompting</a:t>
            </a:r>
          </a:p>
        </p:txBody>
      </p:sp>
      <p:sp>
        <p:nvSpPr>
          <p:cNvPr id="4" name="Rectangle 3"/>
          <p:cNvSpPr/>
          <p:nvPr/>
        </p:nvSpPr>
        <p:spPr>
          <a:xfrm>
            <a:off x="731520" y="1371600"/>
            <a:ext cx="10728655" cy="2743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737360"/>
            <a:ext cx="5303520" cy="4389120"/>
          </a:xfrm>
          <a:prstGeom prst="rect">
            <a:avLst/>
          </a:prstGeom>
          <a:noFill/>
        </p:spPr>
        <p:txBody>
          <a:bodyPr wrap="square">
            <a:spAutoFit/>
          </a:bodyPr>
          <a:lstStyle/>
          <a:p>
            <a:pPr>
              <a:spcAft>
                <a:spcPts val="1200"/>
              </a:spcAft>
              <a:defRPr sz="2000" b="1">
                <a:solidFill>
                  <a:srgbClr val="0F172A"/>
                </a:solidFill>
                <a:latin typeface="Segoe UI"/>
              </a:defRPr>
            </a:pPr>
            <a:r>
              <a:t>Securing LLM Responses</a:t>
            </a:r>
          </a:p>
          <a:p>
            <a:pPr>
              <a:spcAft>
                <a:spcPts val="300"/>
              </a:spcAft>
              <a:defRPr sz="1500" b="1">
                <a:solidFill>
                  <a:srgbClr val="1E293B"/>
                </a:solidFill>
                <a:latin typeface="Arial"/>
              </a:defRPr>
            </a:pPr>
            <a:r>
              <a:t>•  Explicit Context Anchor</a:t>
            </a:r>
          </a:p>
          <a:p>
            <a:pPr>
              <a:spcAft>
                <a:spcPts val="1200"/>
              </a:spcAft>
              <a:defRPr sz="1300">
                <a:solidFill>
                  <a:srgbClr val="64748B"/>
                </a:solidFill>
                <a:latin typeface="Arial"/>
              </a:defRPr>
            </a:pPr>
            <a:r>
              <a:t>The system prompt acts as a boundary, preventing the LLM from drawing on its pre-existing training data for general queries. Responses are tied strictly to the video metadata.</a:t>
            </a:r>
          </a:p>
          <a:p>
            <a:pPr>
              <a:spcAft>
                <a:spcPts val="300"/>
              </a:spcAft>
              <a:defRPr sz="1500" b="1">
                <a:solidFill>
                  <a:srgbClr val="1E293B"/>
                </a:solidFill>
                <a:latin typeface="Arial"/>
              </a:defRPr>
            </a:pPr>
            <a:r>
              <a:t>•  Persona Constraint</a:t>
            </a:r>
          </a:p>
          <a:p>
            <a:pPr>
              <a:spcAft>
                <a:spcPts val="1200"/>
              </a:spcAft>
              <a:defRPr sz="1300">
                <a:solidFill>
                  <a:srgbClr val="64748B"/>
                </a:solidFill>
                <a:latin typeface="Arial"/>
              </a:defRPr>
            </a:pPr>
            <a:r>
              <a:t>The prompt guides the LLM to speak in a helpful, human-like voice suited for a university teaching assistant, while maintaining absolute factual precision.</a:t>
            </a:r>
          </a:p>
          <a:p>
            <a:pPr>
              <a:spcAft>
                <a:spcPts val="300"/>
              </a:spcAft>
              <a:defRPr sz="1500" b="1">
                <a:solidFill>
                  <a:srgbClr val="1E293B"/>
                </a:solidFill>
                <a:latin typeface="Arial"/>
              </a:defRPr>
            </a:pPr>
            <a:r>
              <a:t>•  Strict Boundary Handling</a:t>
            </a:r>
          </a:p>
          <a:p>
            <a:pPr>
              <a:spcAft>
                <a:spcPts val="1200"/>
              </a:spcAft>
              <a:defRPr sz="1300">
                <a:solidFill>
                  <a:srgbClr val="64748B"/>
                </a:solidFill>
                <a:latin typeface="Arial"/>
              </a:defRPr>
            </a:pPr>
            <a:r>
              <a:t>Includes defensive instructions: if the user's question cannot be found within the retrieved video segments, the LLM will politely reject to answer, resolving hallucinations.</a:t>
            </a:r>
          </a:p>
        </p:txBody>
      </p:sp>
      <p:sp>
        <p:nvSpPr>
          <p:cNvPr id="6" name="Rounded Rectangle 5"/>
          <p:cNvSpPr/>
          <p:nvPr/>
        </p:nvSpPr>
        <p:spPr>
          <a:xfrm>
            <a:off x="6400800" y="1737360"/>
            <a:ext cx="5029200" cy="4389120"/>
          </a:xfrm>
          <a:prstGeom prst="roundRect">
            <a:avLst/>
          </a:prstGeom>
          <a:solidFill>
            <a:srgbClr val="0F172A"/>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0" y="2011680"/>
            <a:ext cx="4480560" cy="3840480"/>
          </a:xfrm>
          <a:prstGeom prst="rect">
            <a:avLst/>
          </a:prstGeom>
          <a:noFill/>
        </p:spPr>
        <p:txBody>
          <a:bodyPr wrap="square">
            <a:spAutoFit/>
          </a:bodyPr>
          <a:lstStyle/>
          <a:p>
            <a:pPr>
              <a:spcAft>
                <a:spcPts val="1400"/>
              </a:spcAft>
              <a:defRPr sz="1300" b="1">
                <a:solidFill>
                  <a:srgbClr val="0EA5E9"/>
                </a:solidFill>
                <a:latin typeface="Segoe UI"/>
              </a:defRPr>
            </a:pPr>
            <a:r>
              <a:t>ACTUAL CODE PROMPT TEMPLATE</a:t>
            </a:r>
          </a:p>
          <a:p>
            <a:pPr>
              <a:spcAft>
                <a:spcPts val="0"/>
              </a:spcAft>
              <a:defRPr sz="1150">
                <a:solidFill>
                  <a:srgbClr val="FFFFFF"/>
                </a:solidFill>
                <a:latin typeface="Arial"/>
              </a:defRPr>
            </a:pPr>
            <a:r>
              <a:t>I am teaching web development in my Sigma web development course. Here are video subtitle chunks containing video title, video number, start time in seconds, end time in seconds, the text at that time:</a:t>
            </a:r>
            <a:br/>
            <a:br/>
            <a:r>
              <a:t>[CONTEXT CHUNKS JSON DATA]</a:t>
            </a:r>
            <a:br/>
            <a:r>
              <a:t>---------------------------------</a:t>
            </a:r>
            <a:br/>
            <a:r>
              <a:t>"[USER QUERY]"</a:t>
            </a:r>
            <a:br/>
            <a:br/>
            <a:r>
              <a:t>User asked this question related to the video chunks, you have to answer in a human way (dont mention the above format, its just for you) where and how much content is taught in which video (in which video and at what timestamp) and guide the user to go to that particular video. If user asks unrelated question, tell him that you can only answer questions related to the course.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rIns="0" tIns="0" bIns="0">
            <a:spAutoFit/>
          </a:bodyPr>
          <a:lstStyle/>
          <a:p>
            <a:pPr>
              <a:defRPr sz="1000" b="1">
                <a:solidFill>
                  <a:srgbClr val="0EA5E9"/>
                </a:solidFill>
                <a:latin typeface="Segoe UI"/>
              </a:defRPr>
            </a:pPr>
            <a:r>
              <a:t>SYSTEM EVALUATION</a:t>
            </a:r>
          </a:p>
        </p:txBody>
      </p:sp>
      <p:sp>
        <p:nvSpPr>
          <p:cNvPr id="3" name="TextBox 2"/>
          <p:cNvSpPr txBox="1"/>
          <p:nvPr/>
        </p:nvSpPr>
        <p:spPr>
          <a:xfrm>
            <a:off x="731520" y="640080"/>
            <a:ext cx="10698480" cy="731520"/>
          </a:xfrm>
          <a:prstGeom prst="rect">
            <a:avLst/>
          </a:prstGeom>
          <a:noFill/>
        </p:spPr>
        <p:txBody>
          <a:bodyPr wrap="square" lIns="0" rIns="0" tIns="0" bIns="0">
            <a:spAutoFit/>
          </a:bodyPr>
          <a:lstStyle/>
          <a:p>
            <a:pPr>
              <a:defRPr sz="2800" b="1">
                <a:solidFill>
                  <a:srgbClr val="0F172A"/>
                </a:solidFill>
                <a:latin typeface="Segoe UI"/>
              </a:defRPr>
            </a:pPr>
            <a:r>
              <a:t>Key Advantages &amp; Architectural Strengths</a:t>
            </a:r>
          </a:p>
        </p:txBody>
      </p:sp>
      <p:sp>
        <p:nvSpPr>
          <p:cNvPr id="4" name="Rectangle 3"/>
          <p:cNvSpPr/>
          <p:nvPr/>
        </p:nvSpPr>
        <p:spPr>
          <a:xfrm>
            <a:off x="731520" y="1371600"/>
            <a:ext cx="10728655" cy="2743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828800"/>
            <a:ext cx="5212080" cy="1828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65960"/>
            <a:ext cx="4846320" cy="1554480"/>
          </a:xfrm>
          <a:prstGeom prst="rect">
            <a:avLst/>
          </a:prstGeom>
          <a:noFill/>
        </p:spPr>
        <p:txBody>
          <a:bodyPr wrap="square" lIns="0" tIns="0" bIns="0" rIns="0">
            <a:spAutoFit/>
          </a:bodyPr>
          <a:lstStyle/>
          <a:p>
            <a:pPr>
              <a:spcAft>
                <a:spcPts val="600"/>
              </a:spcAft>
              <a:defRPr sz="1600" b="1">
                <a:solidFill>
                  <a:srgbClr val="0F172A"/>
                </a:solidFill>
                <a:latin typeface="Segoe UI"/>
              </a:defRPr>
            </a:pPr>
            <a:r>
              <a:t>🔒 100% Local Data Privacy</a:t>
            </a:r>
          </a:p>
          <a:p>
            <a:pPr>
              <a:defRPr sz="1200">
                <a:solidFill>
                  <a:srgbClr val="64748B"/>
                </a:solidFill>
                <a:latin typeface="Arial"/>
              </a:defRPr>
            </a:pPr>
            <a:r>
              <a:t>No data is shared with third-party LLM providers. Since transcription (Whisper), indexing (BGE-M3), and inference (Llama 3.2) run completely on local hardware, student questions and course data remain secure.</a:t>
            </a:r>
          </a:p>
        </p:txBody>
      </p:sp>
      <p:sp>
        <p:nvSpPr>
          <p:cNvPr id="7" name="Rounded Rectangle 6"/>
          <p:cNvSpPr/>
          <p:nvPr/>
        </p:nvSpPr>
        <p:spPr>
          <a:xfrm>
            <a:off x="6217920" y="1828800"/>
            <a:ext cx="5212080" cy="1828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965960"/>
            <a:ext cx="4846320" cy="1554480"/>
          </a:xfrm>
          <a:prstGeom prst="rect">
            <a:avLst/>
          </a:prstGeom>
          <a:noFill/>
        </p:spPr>
        <p:txBody>
          <a:bodyPr wrap="square" lIns="0" tIns="0" bIns="0" rIns="0">
            <a:spAutoFit/>
          </a:bodyPr>
          <a:lstStyle/>
          <a:p>
            <a:pPr>
              <a:spcAft>
                <a:spcPts val="600"/>
              </a:spcAft>
              <a:defRPr sz="1600" b="1">
                <a:solidFill>
                  <a:srgbClr val="0F172A"/>
                </a:solidFill>
                <a:latin typeface="Segoe UI"/>
              </a:defRPr>
            </a:pPr>
            <a:r>
              <a:t>💰 Zero Operating Costs</a:t>
            </a:r>
          </a:p>
          <a:p>
            <a:pPr>
              <a:defRPr sz="1200">
                <a:solidFill>
                  <a:srgbClr val="64748B"/>
                </a:solidFill>
                <a:latin typeface="Arial"/>
              </a:defRPr>
            </a:pPr>
            <a:r>
              <a:t>Eliminates the cost barriers of proprietary APIs (like OpenAI GPT-4 or Pinecone). Pushing updates or handling queries costs zero dollars, regardless of student volume.</a:t>
            </a:r>
          </a:p>
        </p:txBody>
      </p:sp>
      <p:sp>
        <p:nvSpPr>
          <p:cNvPr id="9" name="Rounded Rectangle 8"/>
          <p:cNvSpPr/>
          <p:nvPr/>
        </p:nvSpPr>
        <p:spPr>
          <a:xfrm>
            <a:off x="731520" y="3931920"/>
            <a:ext cx="5212080" cy="1828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069080"/>
            <a:ext cx="4846320" cy="1554480"/>
          </a:xfrm>
          <a:prstGeom prst="rect">
            <a:avLst/>
          </a:prstGeom>
          <a:noFill/>
        </p:spPr>
        <p:txBody>
          <a:bodyPr wrap="square" lIns="0" tIns="0" bIns="0" rIns="0">
            <a:spAutoFit/>
          </a:bodyPr>
          <a:lstStyle/>
          <a:p>
            <a:pPr>
              <a:spcAft>
                <a:spcPts val="600"/>
              </a:spcAft>
              <a:defRPr sz="1600" b="1">
                <a:solidFill>
                  <a:srgbClr val="0F172A"/>
                </a:solidFill>
                <a:latin typeface="Segoe UI"/>
              </a:defRPr>
            </a:pPr>
            <a:r>
              <a:t>🌐 Precise Multi-lingual Support</a:t>
            </a:r>
          </a:p>
          <a:p>
            <a:pPr>
              <a:defRPr sz="1200">
                <a:solidFill>
                  <a:srgbClr val="64748B"/>
                </a:solidFill>
                <a:latin typeface="Arial"/>
              </a:defRPr>
            </a:pPr>
            <a:r>
              <a:t>Bilingual instruction (Hinglish/Hindi audio) is perfectly parsed and saved as clean English vectors, bridging the gap between local colloquial instruction and semantic English queries.</a:t>
            </a:r>
          </a:p>
        </p:txBody>
      </p:sp>
      <p:sp>
        <p:nvSpPr>
          <p:cNvPr id="11" name="Rounded Rectangle 10"/>
          <p:cNvSpPr/>
          <p:nvPr/>
        </p:nvSpPr>
        <p:spPr>
          <a:xfrm>
            <a:off x="6217920" y="3931920"/>
            <a:ext cx="5212080" cy="1828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4069080"/>
            <a:ext cx="4846320" cy="1554480"/>
          </a:xfrm>
          <a:prstGeom prst="rect">
            <a:avLst/>
          </a:prstGeom>
          <a:noFill/>
        </p:spPr>
        <p:txBody>
          <a:bodyPr wrap="square" lIns="0" tIns="0" bIns="0" rIns="0">
            <a:spAutoFit/>
          </a:bodyPr>
          <a:lstStyle/>
          <a:p>
            <a:pPr>
              <a:spcAft>
                <a:spcPts val="600"/>
              </a:spcAft>
              <a:defRPr sz="1600" b="1">
                <a:solidFill>
                  <a:srgbClr val="0F172A"/>
                </a:solidFill>
                <a:latin typeface="Segoe UI"/>
              </a:defRPr>
            </a:pPr>
            <a:r>
              <a:t>⚡ High Performance Indexing</a:t>
            </a:r>
          </a:p>
          <a:p>
            <a:pPr>
              <a:defRPr sz="1200">
                <a:solidFill>
                  <a:srgbClr val="64748B"/>
                </a:solidFill>
                <a:latin typeface="Arial"/>
              </a:defRPr>
            </a:pPr>
            <a:r>
              <a:t>Utilizing a customized joblib-pickled Pandas DataFrame indexes vectors inside RAM, returning results within milliseconds without high-complexity hardware infrastructure.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365760" cy="685800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097280"/>
            <a:ext cx="5486400" cy="4572000"/>
          </a:xfrm>
          <a:prstGeom prst="rect">
            <a:avLst/>
          </a:prstGeom>
          <a:noFill/>
        </p:spPr>
        <p:txBody>
          <a:bodyPr wrap="square">
            <a:spAutoFit/>
          </a:bodyPr>
          <a:lstStyle/>
          <a:p>
            <a:pPr>
              <a:spcAft>
                <a:spcPts val="1400"/>
              </a:spcAft>
              <a:defRPr sz="1200" b="1">
                <a:solidFill>
                  <a:srgbClr val="0EA5E9"/>
                </a:solidFill>
                <a:latin typeface="Segoe UI"/>
              </a:defRPr>
            </a:pPr>
            <a:r>
              <a:t>FUTURE PATHS</a:t>
            </a:r>
          </a:p>
          <a:p>
            <a:pPr>
              <a:spcAft>
                <a:spcPts val="2000"/>
              </a:spcAft>
              <a:defRPr sz="3600" b="1">
                <a:solidFill>
                  <a:srgbClr val="FFFFFF"/>
                </a:solidFill>
                <a:latin typeface="Segoe UI"/>
              </a:defRPr>
            </a:pPr>
            <a:r>
              <a:t>Expanding the RAG Assistant</a:t>
            </a:r>
          </a:p>
          <a:p>
            <a:pPr>
              <a:spcAft>
                <a:spcPts val="300"/>
              </a:spcAft>
              <a:defRPr sz="1500" b="1">
                <a:solidFill>
                  <a:srgbClr val="0EA5E9"/>
                </a:solidFill>
                <a:latin typeface="Arial"/>
              </a:defRPr>
            </a:pPr>
            <a:r>
              <a:t>🖥  Streamlit Web UI</a:t>
            </a:r>
          </a:p>
          <a:p>
            <a:pPr>
              <a:spcAft>
                <a:spcPts val="1200"/>
              </a:spcAft>
              <a:defRPr sz="1200">
                <a:solidFill>
                  <a:srgbClr val="FFFFFF"/>
                </a:solidFill>
                <a:latin typeface="Arial"/>
              </a:defRPr>
            </a:pPr>
            <a:r>
              <a:t>Integrate the Python pipeline with a clean, interactive chat interface where students can paste any YouTube playlist link and start chatting instantly.</a:t>
            </a:r>
          </a:p>
          <a:p>
            <a:pPr>
              <a:spcAft>
                <a:spcPts val="300"/>
              </a:spcAft>
              <a:defRPr sz="1500" b="1">
                <a:solidFill>
                  <a:srgbClr val="0EA5E9"/>
                </a:solidFill>
                <a:latin typeface="Arial"/>
              </a:defRPr>
            </a:pPr>
            <a:r>
              <a:t>👁  Multimodal Visual RAG</a:t>
            </a:r>
          </a:p>
          <a:p>
            <a:pPr>
              <a:spcAft>
                <a:spcPts val="1200"/>
              </a:spcAft>
              <a:defRPr sz="1200">
                <a:solidFill>
                  <a:srgbClr val="FFFFFF"/>
                </a:solidFill>
                <a:latin typeface="Arial"/>
              </a:defRPr>
            </a:pPr>
            <a:r>
              <a:t>Upgrade the search indexing from text transcriptions to visual screen frames, utilizing CLIP models to match questions to slides or code editor windows.</a:t>
            </a:r>
          </a:p>
          <a:p>
            <a:pPr>
              <a:spcAft>
                <a:spcPts val="300"/>
              </a:spcAft>
              <a:defRPr sz="1500" b="1">
                <a:solidFill>
                  <a:srgbClr val="0EA5E9"/>
                </a:solidFill>
                <a:latin typeface="Arial"/>
              </a:defRPr>
            </a:pPr>
            <a:r>
              <a:t>🔁 Continuous playlist ingestion</a:t>
            </a:r>
          </a:p>
          <a:p>
            <a:pPr>
              <a:spcAft>
                <a:spcPts val="1200"/>
              </a:spcAft>
              <a:defRPr sz="1200">
                <a:solidFill>
                  <a:srgbClr val="FFFFFF"/>
                </a:solidFill>
                <a:latin typeface="Arial"/>
              </a:defRPr>
            </a:pPr>
            <a:r>
              <a:t>Establish webhooks or scheduled cron scripts that automatically detect new YouTube course video uploads, downloading and indexing them dynamically.</a:t>
            </a:r>
          </a:p>
        </p:txBody>
      </p:sp>
      <p:sp>
        <p:nvSpPr>
          <p:cNvPr id="4" name="TextBox 3"/>
          <p:cNvSpPr txBox="1"/>
          <p:nvPr/>
        </p:nvSpPr>
        <p:spPr>
          <a:xfrm>
            <a:off x="7132320" y="2011680"/>
            <a:ext cx="4114800" cy="3657600"/>
          </a:xfrm>
          <a:prstGeom prst="rect">
            <a:avLst/>
          </a:prstGeom>
          <a:noFill/>
        </p:spPr>
        <p:txBody>
          <a:bodyPr wrap="square">
            <a:spAutoFit/>
          </a:bodyPr>
          <a:lstStyle/>
          <a:p>
            <a:pPr>
              <a:spcAft>
                <a:spcPts val="1000"/>
              </a:spcAft>
              <a:defRPr sz="4800" b="1">
                <a:solidFill>
                  <a:srgbClr val="FFFFFF"/>
                </a:solidFill>
                <a:latin typeface="Segoe UI"/>
              </a:defRPr>
            </a:pPr>
            <a:r>
              <a:t>Thank You!</a:t>
            </a:r>
          </a:p>
          <a:p>
            <a:pPr>
              <a:spcAft>
                <a:spcPts val="3000"/>
              </a:spcAft>
              <a:defRPr sz="1800">
                <a:solidFill>
                  <a:srgbClr val="0EA5E9"/>
                </a:solidFill>
                <a:latin typeface="Arial"/>
              </a:defRPr>
            </a:pPr>
            <a:r>
              <a:t>Open for Questions &amp; Discussion</a:t>
            </a:r>
          </a:p>
          <a:p>
            <a:pPr>
              <a:defRPr sz="1300">
                <a:solidFill>
                  <a:srgbClr val="FFFFFF"/>
                </a:solidFill>
                <a:latin typeface="Arial"/>
              </a:defRPr>
            </a:pPr>
            <a:r>
              <a:t>GitHub: PraDarch/Rag-Based-AI-Teaching-Assistance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